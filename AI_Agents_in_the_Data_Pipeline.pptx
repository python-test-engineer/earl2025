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75" r:id="rId4"/>
    <p:sldId id="261" r:id="rId5"/>
    <p:sldId id="291" r:id="rId6"/>
    <p:sldId id="288" r:id="rId7"/>
    <p:sldId id="263" r:id="rId8"/>
    <p:sldId id="282" r:id="rId9"/>
    <p:sldId id="273" r:id="rId10"/>
    <p:sldId id="283" r:id="rId11"/>
    <p:sldId id="290" r:id="rId12"/>
    <p:sldId id="284" r:id="rId13"/>
    <p:sldId id="285" r:id="rId14"/>
    <p:sldId id="265" r:id="rId15"/>
    <p:sldId id="287" r:id="rId16"/>
    <p:sldId id="292" r:id="rId17"/>
    <p:sldId id="294" r:id="rId18"/>
    <p:sldId id="289" r:id="rId19"/>
    <p:sldId id="267" r:id="rId20"/>
    <p:sldId id="295" r:id="rId21"/>
    <p:sldId id="293" r:id="rId22"/>
    <p:sldId id="279" r:id="rId23"/>
    <p:sldId id="277" r:id="rId24"/>
    <p:sldId id="280" r:id="rId25"/>
    <p:sldId id="281" r:id="rId26"/>
    <p:sldId id="268" r:id="rId27"/>
    <p:sldId id="278" r:id="rId28"/>
    <p:sldId id="270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14/10/2025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14/10/2025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14/10/2025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mcpservers.org/servers/modelcontextprotocol/fetch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AI Agents in the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Talk Slides and Repo: 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This also contains links to a video of the BrighonPy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talk/workshop on </a:t>
            </a:r>
            <a:r>
              <a:rPr lang="en-GB" sz="2000" b="1" dirty="0">
                <a:solidFill>
                  <a:srgbClr val="3A3A3A"/>
                </a:solidFill>
              </a:rPr>
              <a:t>‘AI as API’ </a:t>
            </a:r>
            <a:r>
              <a:rPr lang="en-GB" sz="2000" dirty="0">
                <a:solidFill>
                  <a:srgbClr val="3A3A3A"/>
                </a:solidFill>
              </a:rPr>
              <a:t>and the repo for the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PyData Southampton Meetup </a:t>
            </a:r>
            <a:r>
              <a:rPr lang="en-GB" sz="2000" b="1" dirty="0">
                <a:solidFill>
                  <a:srgbClr val="3A3A3A"/>
                </a:solidFill>
              </a:rPr>
              <a:t>‘AI Agents in The Data Pipeline’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as well as additional resources.</a:t>
            </a:r>
          </a:p>
          <a:p>
            <a:endParaRPr lang="en-GB" dirty="0"/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7523" y="141303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37523" y="3549142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BE0FD-ADCA-CCF5-0B57-5D8DF560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156C-A5C9-AA8F-EEF2-77BEE7862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Desired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B9BD8-BC61-C573-3980-DB156FB91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better understand the Agent Landscape, its terminology, basis and uses. 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demystify and simplify what an Agent is.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see the uses of </a:t>
            </a:r>
            <a:r>
              <a:rPr lang="en-GB" sz="3200" b="1" dirty="0">
                <a:solidFill>
                  <a:srgbClr val="3A3A3A"/>
                </a:solidFill>
              </a:rPr>
              <a:t>AI Agents in the Data Pipeline</a:t>
            </a:r>
            <a:r>
              <a:rPr lang="en-GB" sz="3200" dirty="0">
                <a:solidFill>
                  <a:srgbClr val="3A3A3A"/>
                </a:solidFill>
              </a:rPr>
              <a:t> and the likely future of Data Pipeline applications.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This is a ‘fly by’ rather than ‘deep dive’. The repo has more detailed examples and links to help you go  further and deeper.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8044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404B2-BE35-5A3B-426A-8BDDD656B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F5709-02C1-27DD-6DDD-01E0B8384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2258F-F0A1-CB43-82E4-BA6F9A5F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45901"/>
            <a:ext cx="10596715" cy="5444969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  <a:endParaRPr lang="en-GB" sz="8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AI Agents from scratch – a POST API Request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Understand what Tool/Function calling are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Agentic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Model Context Protocol – changing app architecture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Demos of some patterns 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Final demo of Cline building a data pipeline from scratch and producing a Business Intelligence report form the charts and graphs.</a:t>
            </a: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916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55B19-D2F6-8058-89EC-D3ADC6419387}"/>
              </a:ext>
            </a:extLst>
          </p:cNvPr>
          <p:cNvSpPr txBox="1"/>
          <p:nvPr/>
        </p:nvSpPr>
        <p:spPr>
          <a:xfrm>
            <a:off x="7654247" y="3770616"/>
            <a:ext cx="378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Models have become increasingly more capable and ‘intelligent’.</a:t>
            </a:r>
          </a:p>
        </p:txBody>
      </p:sp>
    </p:spTree>
    <p:extLst>
      <p:ext uri="{BB962C8B-B14F-4D97-AF65-F5344CB8AC3E}">
        <p14:creationId xmlns:p14="http://schemas.microsoft.com/office/powerpoint/2010/main" val="975252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846" y="132285"/>
            <a:ext cx="4098358" cy="30737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59182" y="3304497"/>
            <a:ext cx="2243490" cy="2991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6708" y="1049967"/>
            <a:ext cx="5944339" cy="23671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26311" y="3440898"/>
            <a:ext cx="4115191" cy="2742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63846" y="3304498"/>
            <a:ext cx="1888657" cy="3015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471F2-6442-2689-1749-634EA09A3A44}"/>
              </a:ext>
            </a:extLst>
          </p:cNvPr>
          <p:cNvSpPr txBox="1"/>
          <p:nvPr/>
        </p:nvSpPr>
        <p:spPr>
          <a:xfrm>
            <a:off x="1643866" y="3465982"/>
            <a:ext cx="4445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highlight>
                  <a:srgbClr val="FFFF00"/>
                </a:highlight>
              </a:rPr>
              <a:t> I live about 1 mile north…  </a:t>
            </a:r>
          </a:p>
        </p:txBody>
      </p:sp>
    </p:spTree>
    <p:extLst>
      <p:ext uri="{BB962C8B-B14F-4D97-AF65-F5344CB8AC3E}">
        <p14:creationId xmlns:p14="http://schemas.microsoft.com/office/powerpoint/2010/main" val="1549258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6" y="2782669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but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9EC48-3CA3-2F82-140E-A68CF605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31C23-0F5B-6002-821F-7DF71C363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Using email as an example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6402C1-B29A-A4FD-F444-AF3C8F2B09D3}"/>
              </a:ext>
            </a:extLst>
          </p:cNvPr>
          <p:cNvSpPr txBox="1"/>
          <p:nvPr/>
        </p:nvSpPr>
        <p:spPr>
          <a:xfrm>
            <a:off x="919314" y="1921267"/>
            <a:ext cx="996101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use the example of an email. We use HTTP POST to send the message to a SINGLE endpoint</a:t>
            </a:r>
          </a:p>
          <a:p>
            <a:endParaRPr lang="en-GB" sz="3200" dirty="0"/>
          </a:p>
          <a:p>
            <a:r>
              <a:rPr lang="en-GB" sz="3200" dirty="0"/>
              <a:t>Payload of instructions and context (info) that we send for the end user to process for us and return a response.</a:t>
            </a:r>
          </a:p>
          <a:p>
            <a:endParaRPr lang="en-GB" sz="3200" dirty="0"/>
          </a:p>
          <a:p>
            <a:r>
              <a:rPr lang="en-GB" sz="3200" dirty="0"/>
              <a:t>An LLM call in an Agent is similar…we send an ‘email’ of instructions and attached data to an ENDPOINT.</a:t>
            </a:r>
          </a:p>
        </p:txBody>
      </p:sp>
    </p:spTree>
    <p:extLst>
      <p:ext uri="{BB962C8B-B14F-4D97-AF65-F5344CB8AC3E}">
        <p14:creationId xmlns:p14="http://schemas.microsoft.com/office/powerpoint/2010/main" val="12507860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ABF0B7-F482-2446-C127-C90E4C44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83DC5-BF67-7FA4-0059-A3065D06F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0FB64-851F-A3BD-15E6-081CA2032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3E06EB-B068-8B1E-DAD0-22AA8B73F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516027"/>
            <a:ext cx="10169976" cy="25544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D56192-ABBE-2091-88D5-4A8E317C0F2D}"/>
              </a:ext>
            </a:extLst>
          </p:cNvPr>
          <p:cNvSpPr txBox="1"/>
          <p:nvPr/>
        </p:nvSpPr>
        <p:spPr>
          <a:xfrm>
            <a:off x="919314" y="4530903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look at </a:t>
            </a:r>
            <a:r>
              <a:rPr lang="en-GB" sz="3200" dirty="0">
                <a:latin typeface="Consolas" panose="020B0609020204030204" pitchFamily="49" charset="0"/>
              </a:rPr>
              <a:t>01_raw_post_request.py </a:t>
            </a:r>
            <a:r>
              <a:rPr lang="en-GB" sz="3200" dirty="0"/>
              <a:t>in the repo…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5626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51D2A-02B5-5CCA-C9C5-B941C73F4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B1661-39EF-3100-35DE-A22E3B187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Prompt Engineering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39117-0E78-393C-CF46-ABB7F6331B86}"/>
              </a:ext>
            </a:extLst>
          </p:cNvPr>
          <p:cNvSpPr txBox="1"/>
          <p:nvPr/>
        </p:nvSpPr>
        <p:spPr>
          <a:xfrm>
            <a:off x="919314" y="1366462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Essentially a set of instructions…</a:t>
            </a:r>
          </a:p>
          <a:p>
            <a:endParaRPr lang="en-GB" sz="32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in 100 words</a:t>
            </a:r>
            <a:r>
              <a:rPr lang="en-GB" sz="3200" dirty="0">
                <a:solidFill>
                  <a:srgbClr val="3A3A3A"/>
                </a:solidFill>
              </a:rPr>
              <a:t>…” will give a pretrained response…</a:t>
            </a:r>
          </a:p>
          <a:p>
            <a:endParaRPr lang="en-GB" sz="3200" dirty="0"/>
          </a:p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 Tell me about Data Analytics and how it can help me with our sales analysis for the last quarter…” </a:t>
            </a:r>
            <a:r>
              <a:rPr lang="en-GB" sz="3200" dirty="0"/>
              <a:t>will give us a response of:  </a:t>
            </a:r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“I need more info…” as it has not been trained on our data.”</a:t>
            </a:r>
          </a:p>
        </p:txBody>
      </p:sp>
    </p:spTree>
    <p:extLst>
      <p:ext uri="{BB962C8B-B14F-4D97-AF65-F5344CB8AC3E}">
        <p14:creationId xmlns:p14="http://schemas.microsoft.com/office/powerpoint/2010/main" val="509993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868BA-1FA8-EBCC-86D9-3ACBD7259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8864-E449-91BB-7CCA-430EEEA7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Context Engineering</a:t>
            </a:r>
          </a:p>
        </p:txBody>
      </p:sp>
      <p:pic>
        <p:nvPicPr>
          <p:cNvPr id="6" name="Picture 5" descr="A close-up of a website&#10;&#10;AI-generated content may be incorrect.">
            <a:extLst>
              <a:ext uri="{FF2B5EF4-FFF2-40B4-BE49-F238E27FC236}">
                <a16:creationId xmlns:a16="http://schemas.microsoft.com/office/drawing/2014/main" id="{7B403DEF-8780-7F55-25B4-2FB3830C9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52" y="1762607"/>
            <a:ext cx="10455151" cy="362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392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E9F1D-F9B0-DA1A-78CD-C33DF147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BFE2A-3DB5-5136-73B2-E1137CA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Supplying more Context (information)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ED288D-569F-D60C-8A43-685A113030E3}"/>
              </a:ext>
            </a:extLst>
          </p:cNvPr>
          <p:cNvSpPr txBox="1"/>
          <p:nvPr/>
        </p:nvSpPr>
        <p:spPr>
          <a:xfrm>
            <a:off x="919314" y="1438381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</a:t>
            </a:r>
            <a:r>
              <a:rPr lang="en-GB" sz="3200" i="1" dirty="0">
                <a:solidFill>
                  <a:schemeClr val="accent2">
                    <a:lumMod val="75000"/>
                  </a:schemeClr>
                </a:solidFill>
              </a:rPr>
              <a:t>here is </a:t>
            </a:r>
            <a:r>
              <a:rPr lang="en-GB" sz="3200" b="1" i="1" dirty="0">
                <a:solidFill>
                  <a:schemeClr val="accent2">
                    <a:lumMod val="75000"/>
                  </a:schemeClr>
                </a:solidFill>
              </a:rPr>
              <a:t>some data </a:t>
            </a:r>
            <a:r>
              <a:rPr lang="en-GB" sz="3200" i="1" dirty="0">
                <a:solidFill>
                  <a:schemeClr val="accent2">
                    <a:lumMod val="75000"/>
                  </a:schemeClr>
                </a:solidFill>
              </a:rPr>
              <a:t>from our company</a:t>
            </a:r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, please analyse…”</a:t>
            </a:r>
          </a:p>
          <a:p>
            <a:endParaRPr lang="en-GB" sz="3200" dirty="0"/>
          </a:p>
          <a:p>
            <a:r>
              <a:rPr lang="en-GB" sz="3200" dirty="0"/>
              <a:t>This is context engineering where we supply appropriate context for the Agent. </a:t>
            </a:r>
          </a:p>
          <a:p>
            <a:endParaRPr lang="en-GB" sz="3200" dirty="0"/>
          </a:p>
          <a:p>
            <a:r>
              <a:rPr lang="en-GB" sz="3200" dirty="0"/>
              <a:t>RAG is Retrieval Augmented Generation and is RETRIEVING extra content from a range of sources for the prompt – not just Vector Databases.</a:t>
            </a:r>
          </a:p>
        </p:txBody>
      </p:sp>
    </p:spTree>
    <p:extLst>
      <p:ext uri="{BB962C8B-B14F-4D97-AF65-F5344CB8AC3E}">
        <p14:creationId xmlns:p14="http://schemas.microsoft.com/office/powerpoint/2010/main" val="2155851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AF258-6642-08C5-D4DA-FA5BA3D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3726-1E1A-3007-AD79-64578B8B1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</a:t>
            </a:r>
            <a:r>
              <a:rPr lang="en-GB">
                <a:solidFill>
                  <a:srgbClr val="676767"/>
                </a:solidFill>
              </a:rPr>
              <a:t>? 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81BDFC-E84D-DF43-6FE4-0563152F41EC}"/>
              </a:ext>
            </a:extLst>
          </p:cNvPr>
          <p:cNvSpPr txBox="1"/>
          <p:nvPr/>
        </p:nvSpPr>
        <p:spPr>
          <a:xfrm>
            <a:off x="919313" y="1955299"/>
            <a:ext cx="9961019" cy="457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3200" dirty="0"/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here is some data…</a:t>
            </a:r>
          </a:p>
          <a:p>
            <a:endParaRPr lang="en-GB" sz="1200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Also compare our share price with {company X}…”</a:t>
            </a:r>
          </a:p>
          <a:p>
            <a:endParaRPr lang="en-GB" sz="1100" dirty="0"/>
          </a:p>
          <a:p>
            <a:r>
              <a:rPr lang="en-GB" sz="3200" dirty="0"/>
              <a:t>We don’t know this information at time of the request as it will vary with each query.</a:t>
            </a:r>
          </a:p>
          <a:p>
            <a:endParaRPr lang="en-GB" sz="1200" dirty="0"/>
          </a:p>
          <a:p>
            <a:r>
              <a:rPr lang="en-GB" sz="3200" dirty="0"/>
              <a:t>We need a tool/function the Agent can use to get the share price… </a:t>
            </a:r>
            <a:r>
              <a:rPr lang="en-GB" sz="3200" b="1" dirty="0"/>
              <a:t>“tool/function calling”</a:t>
            </a:r>
          </a:p>
          <a:p>
            <a:endParaRPr lang="en-GB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92F7E-D232-E7FC-2BFF-DF740EBA7039}"/>
              </a:ext>
            </a:extLst>
          </p:cNvPr>
          <p:cNvSpPr txBox="1"/>
          <p:nvPr/>
        </p:nvSpPr>
        <p:spPr>
          <a:xfrm>
            <a:off x="919314" y="1223639"/>
            <a:ext cx="99610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Tool/Function Calling – </a:t>
            </a:r>
          </a:p>
          <a:p>
            <a:pPr algn="ctr"/>
            <a:r>
              <a:rPr lang="en-GB" sz="3200" b="1" dirty="0"/>
              <a:t>adding more context/info on demand</a:t>
            </a:r>
            <a:endParaRPr lang="en-GB" sz="4400" b="1" dirty="0"/>
          </a:p>
        </p:txBody>
      </p:sp>
    </p:spTree>
    <p:extLst>
      <p:ext uri="{BB962C8B-B14F-4D97-AF65-F5344CB8AC3E}">
        <p14:creationId xmlns:p14="http://schemas.microsoft.com/office/powerpoint/2010/main" val="711814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1A3AD7-012D-83EA-2CB2-072646D1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F49D9-BE82-BB4F-0187-B6AD05A1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61442-8ED6-7227-DC19-D4B84CE7F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C9B272DD-453C-DCB6-C6E6-F276D7BBC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74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8DA7F-B1D8-D9A8-D01C-792B79326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C8CA-586F-74A1-8AC1-C7EAB2F2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Reflection Pattern - looping</a:t>
            </a:r>
          </a:p>
        </p:txBody>
      </p:sp>
      <p:pic>
        <p:nvPicPr>
          <p:cNvPr id="6" name="Picture 5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21DC5963-DA47-441B-EF1E-4528AC981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542" y="1155517"/>
            <a:ext cx="9799144" cy="55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437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06A409-CD5D-787F-47D9-2B37325FD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67E17-64B8-2918-293D-E44B66657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51D3F2-C087-2A51-5678-B25443516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6107" y="1232102"/>
            <a:ext cx="5884693" cy="5625897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4129078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17A34F-8566-1D43-1E1A-5B374E47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D0901-41B6-AC57-6A2C-EAD6E956F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A7566-C431-C15B-B505-DA5242F18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979432B5-419A-E653-E633-F2870B5CA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564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D4CA3-416B-C283-625F-3094FCF7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9787B-41EB-74C8-0FA3-73B99041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Another example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50581-7FC6-B33E-36A1-393EB16F2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ask Agent to write some code for us, then another to critique it and then a final one to combine the two.</a:t>
            </a:r>
          </a:p>
          <a:p>
            <a:endParaRPr lang="en-GB" sz="1100" dirty="0"/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“Generate a Python implementation of imputing missing values in a Pandas DataFrame with the mean of the column.</a:t>
            </a: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Ensure there are plenty of comments explaining the code.”</a:t>
            </a:r>
          </a:p>
          <a:p>
            <a:pPr marL="0" indent="0">
              <a:buNone/>
            </a:pPr>
            <a:endParaRPr lang="en-GB" sz="1400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04_demo_reflection.ipynb -&gt; three files: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04.1_code.md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04.2_critique.md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04.3_final.md</a:t>
            </a: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4458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583BB-A0FB-CF49-992D-EACA12E9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3D57F-D071-1261-777E-70463D0AF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599F-F9E0-56D0-48D6-18BF3922D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have seen how we can write tools for the Agent to discover and call as needed.</a:t>
            </a:r>
          </a:p>
          <a:p>
            <a:pPr marL="0" indent="0">
              <a:buNone/>
            </a:pPr>
            <a:r>
              <a:rPr lang="en-GB" dirty="0"/>
              <a:t>What about tools others have created?</a:t>
            </a:r>
          </a:p>
          <a:p>
            <a:pPr marL="0" indent="0">
              <a:buNone/>
            </a:pPr>
            <a:r>
              <a:rPr lang="en-GB" dirty="0"/>
              <a:t>How can an Agent discover what tools are available, how to use them with what ever arguments are needed and how to execute them? (</a:t>
            </a:r>
            <a:r>
              <a:rPr lang="en-GB" i="1" dirty="0"/>
              <a:t>like when we go to PyPi to get libraries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52600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4E474-D647-6DB6-0542-FC92842AB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DD91B-7760-91E6-A95F-88CC86DA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C7C6C-DEE9-69D0-4D7C-9C46D6DDB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is the Model Context Protocol for Agents to be able to do this.</a:t>
            </a:r>
          </a:p>
          <a:p>
            <a:pPr marL="0" indent="0">
              <a:buNone/>
            </a:pPr>
            <a:r>
              <a:rPr lang="en-GB" dirty="0"/>
              <a:t>In essence, an Agent can find a list of tools we have given it, with these tools able to inform an Agent what they are and how to use them.</a:t>
            </a:r>
          </a:p>
          <a:p>
            <a:pPr marL="0" indent="0">
              <a:buNone/>
            </a:pPr>
            <a:r>
              <a:rPr lang="en-GB" dirty="0"/>
              <a:t>The Agent runs the </a:t>
            </a:r>
            <a:r>
              <a:rPr lang="en-GB" dirty="0" err="1"/>
              <a:t>pipx</a:t>
            </a:r>
            <a:r>
              <a:rPr lang="en-GB" dirty="0"/>
              <a:t> to download and run them in a separate process.</a:t>
            </a:r>
          </a:p>
        </p:txBody>
      </p:sp>
    </p:spTree>
    <p:extLst>
      <p:ext uri="{BB962C8B-B14F-4D97-AF65-F5344CB8AC3E}">
        <p14:creationId xmlns:p14="http://schemas.microsoft.com/office/powerpoint/2010/main" val="39515601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74270F-3730-D8EC-80AE-6AB810CE1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C2862-C9B2-5098-C585-45CF1B16E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5C5C0-7B1A-D091-87A8-B733154B6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Langchain SQL Agent is something we can code in deterministically into an app but how would an Agent decide whether to use it and how to use it?</a:t>
            </a:r>
          </a:p>
          <a:p>
            <a:pPr marL="0" indent="0">
              <a:buNone/>
            </a:pPr>
            <a:endParaRPr lang="en-GB" sz="1100" dirty="0"/>
          </a:p>
          <a:p>
            <a:pPr marL="0" indent="0">
              <a:buNone/>
            </a:pPr>
            <a:r>
              <a:rPr lang="en-GB" dirty="0"/>
              <a:t>MCP enables an Agent to get a list of tools available by the MCP Server and how to use the tools.</a:t>
            </a:r>
          </a:p>
          <a:p>
            <a:pPr marL="0" indent="0">
              <a:buNone/>
            </a:pPr>
            <a:endParaRPr lang="en-GB" sz="1100" dirty="0"/>
          </a:p>
          <a:p>
            <a:pPr marL="0" indent="0">
              <a:buNone/>
            </a:pPr>
            <a:r>
              <a:rPr lang="en-GB" dirty="0"/>
              <a:t>An Agent can then decide whether to use these tools to create more context for further prompts.</a:t>
            </a:r>
          </a:p>
        </p:txBody>
      </p:sp>
    </p:spTree>
    <p:extLst>
      <p:ext uri="{BB962C8B-B14F-4D97-AF65-F5344CB8AC3E}">
        <p14:creationId xmlns:p14="http://schemas.microsoft.com/office/powerpoint/2010/main" val="33943017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F8CBC-7BA2-7523-FFA8-80E5C3BF6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CE1D-7D12-57D7-A5B7-3FE55286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pic>
        <p:nvPicPr>
          <p:cNvPr id="5" name="Content Placeholder 4" descr="A screen 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2DE882C9-519D-BBB5-68FE-B5255690F3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54" y="1250062"/>
            <a:ext cx="9416091" cy="4575217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020CA-A612-8D52-607E-CEECD3753A24}"/>
              </a:ext>
            </a:extLst>
          </p:cNvPr>
          <p:cNvSpPr txBox="1"/>
          <p:nvPr/>
        </p:nvSpPr>
        <p:spPr>
          <a:xfrm>
            <a:off x="1387952" y="5936143"/>
            <a:ext cx="941609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2"/>
              </a:rPr>
              <a:t>https://mcpservers.org/servers/modelcontextprotocol/fetch</a:t>
            </a:r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08132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4FBD2-643E-E5A9-8BF2-FB361259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34512-7B25-E453-E16C-FF65441E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Agent2Agent Protocol (A2A)?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5311C-1016-A0EE-6E12-DD296E243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complimentary protocol to allow one Agent to discover and understand what another Agent does.</a:t>
            </a:r>
          </a:p>
          <a:p>
            <a:pPr marL="0" indent="0">
              <a:buNone/>
            </a:pPr>
            <a:r>
              <a:rPr lang="en-GB" dirty="0"/>
              <a:t>It can then hand off work to the other Agent to get a desired response.</a:t>
            </a:r>
          </a:p>
          <a:p>
            <a:pPr marL="0" indent="0">
              <a:buNone/>
            </a:pPr>
            <a:r>
              <a:rPr lang="en-GB" dirty="0"/>
              <a:t>It might seem that tools, MCP, A2A are all similar!</a:t>
            </a:r>
          </a:p>
          <a:p>
            <a:pPr marL="0" indent="0">
              <a:buNone/>
            </a:pPr>
            <a:r>
              <a:rPr lang="en-GB" dirty="0"/>
              <a:t>At the end of the day Python is variables and code…all objects and essentially variations on functions.</a:t>
            </a:r>
          </a:p>
          <a:p>
            <a:pPr marL="0" indent="0">
              <a:buNone/>
            </a:pPr>
            <a:r>
              <a:rPr lang="en-GB" dirty="0"/>
              <a:t>Protocols, like HTTP for example, are implementations to enable communication between bits of code.</a:t>
            </a:r>
          </a:p>
          <a:p>
            <a:pPr marL="0" indent="0">
              <a:buNone/>
            </a:pPr>
            <a:r>
              <a:rPr lang="en-GB" i="1" dirty="0"/>
              <a:t>Next…an example from Google…</a:t>
            </a:r>
          </a:p>
        </p:txBody>
      </p:sp>
    </p:spTree>
    <p:extLst>
      <p:ext uri="{BB962C8B-B14F-4D97-AF65-F5344CB8AC3E}">
        <p14:creationId xmlns:p14="http://schemas.microsoft.com/office/powerpoint/2010/main" val="22538815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(1)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32" y="1421289"/>
            <a:ext cx="10596563" cy="487046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030CE-F294-86B3-6F10-3AB61987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3853CA-F183-DF85-201B-ED2AB55C4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929" y="1969851"/>
            <a:ext cx="4972442" cy="4165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45D98-D59A-10E5-7C50-C924EE888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8150-C7BB-C968-2A62-2A3812D74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16027"/>
            <a:ext cx="10515600" cy="4351338"/>
          </a:xfrm>
        </p:spPr>
        <p:txBody>
          <a:bodyPr/>
          <a:lstStyle/>
          <a:p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can learn a lot about best</a:t>
            </a:r>
          </a:p>
          <a:p>
            <a:pPr marL="0" indent="0">
              <a:buNone/>
            </a:pPr>
            <a:r>
              <a:rPr lang="en-GB" dirty="0"/>
              <a:t>practices for Context Engineering by </a:t>
            </a:r>
          </a:p>
          <a:p>
            <a:pPr marL="0" indent="0">
              <a:buNone/>
            </a:pPr>
            <a:r>
              <a:rPr lang="en-GB" dirty="0"/>
              <a:t>looking at big tech repos.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briefly look at:</a:t>
            </a:r>
          </a:p>
          <a:p>
            <a:pPr marL="0" indent="0">
              <a:buNone/>
            </a:pPr>
            <a:r>
              <a:rPr lang="en-GB" dirty="0"/>
              <a:t>06_demo_prompt_google_crm.md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14305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C0DD9-54D0-8094-782E-FC61A05A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AD40-FA5F-10FF-8715-DCEC72D3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AB0A6-D1CF-DAFA-F9DD-82A1E0998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2584285"/>
            <a:ext cx="10596715" cy="2316488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Using Cline to create a complete pipeline…in practice </a:t>
            </a:r>
            <a:r>
              <a:rPr lang="en-GB" dirty="0" err="1"/>
              <a:t>devs</a:t>
            </a:r>
            <a:r>
              <a:rPr lang="en-GB" dirty="0"/>
              <a:t> do it bit by bit.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look at an example…</a:t>
            </a:r>
          </a:p>
        </p:txBody>
      </p:sp>
    </p:spTree>
    <p:extLst>
      <p:ext uri="{BB962C8B-B14F-4D97-AF65-F5344CB8AC3E}">
        <p14:creationId xmlns:p14="http://schemas.microsoft.com/office/powerpoint/2010/main" val="39017585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B79118-841B-F42B-B854-886D9D8F1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0BE5E-7827-40D5-0232-6BCA156E0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F56F5-9707-600C-AB09-0FA01DFE2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1507" y="1351386"/>
            <a:ext cx="9519229" cy="4967221"/>
          </a:xfrm>
          <a:solidFill>
            <a:srgbClr val="FAF0E6"/>
          </a:solidFill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GB" dirty="0"/>
              <a:t>]</a:t>
            </a:r>
            <a:endParaRPr lang="en-GB" sz="4400" dirty="0"/>
          </a:p>
          <a:p>
            <a:pPr marL="0" indent="0">
              <a:buNone/>
            </a:pPr>
            <a:r>
              <a:rPr lang="en-GB" sz="9000" b="1" dirty="0"/>
              <a:t>CLINE</a:t>
            </a:r>
            <a:r>
              <a:rPr lang="en-GB" sz="7000" b="1" dirty="0"/>
              <a:t>:</a:t>
            </a:r>
          </a:p>
          <a:p>
            <a:pPr marL="0" indent="0">
              <a:buNone/>
            </a:pPr>
            <a:r>
              <a:rPr lang="en-GB" sz="8000" dirty="0"/>
              <a:t>“I have a CSV for some sales data. </a:t>
            </a:r>
          </a:p>
          <a:p>
            <a:pPr marL="0" indent="0">
              <a:buNone/>
            </a:pPr>
            <a:r>
              <a:rPr lang="en-GB" sz="8000" dirty="0"/>
              <a:t>I have attached a sample 5 rows.</a:t>
            </a:r>
          </a:p>
          <a:p>
            <a:pPr marL="0" indent="0">
              <a:buNone/>
            </a:pPr>
            <a:r>
              <a:rPr lang="en-GB" sz="8000" dirty="0"/>
              <a:t>Make a simple ETL and data analysis </a:t>
            </a:r>
          </a:p>
          <a:p>
            <a:pPr marL="0" indent="0">
              <a:buNone/>
            </a:pPr>
            <a:r>
              <a:rPr lang="en-GB" sz="8000" dirty="0"/>
              <a:t>programme for it to show plots and graphs.”</a:t>
            </a:r>
          </a:p>
          <a:p>
            <a:pPr marL="0" indent="0">
              <a:buNone/>
            </a:pPr>
            <a:endParaRPr lang="en-GB" sz="2300" dirty="0"/>
          </a:p>
          <a:p>
            <a:pPr marL="0" indent="0">
              <a:buNone/>
            </a:pPr>
            <a:r>
              <a:rPr lang="en-GB" sz="9000" b="1" dirty="0"/>
              <a:t>IN DEMO:  </a:t>
            </a:r>
            <a:r>
              <a:rPr lang="en-GB" sz="8000" dirty="0"/>
              <a:t>I will add…</a:t>
            </a:r>
          </a:p>
          <a:p>
            <a:pPr marL="0" indent="0">
              <a:buNone/>
            </a:pPr>
            <a:r>
              <a:rPr lang="en-GB" sz="8000" dirty="0"/>
              <a:t>[“There is already a folder called `sales_etl_analysis` - please ignore and start afresh”]</a:t>
            </a:r>
          </a:p>
          <a:p>
            <a:pPr marL="0" indent="0">
              <a:buNone/>
            </a:pPr>
            <a:r>
              <a:rPr lang="en-GB" sz="8000" dirty="0"/>
              <a:t>There are two previous examples in the repo…</a:t>
            </a:r>
            <a:endParaRPr lang="en-GB" sz="7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</p:txBody>
      </p:sp>
      <p:pic>
        <p:nvPicPr>
          <p:cNvPr id="9" name="Picture 8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0487DA1-EF18-FF08-5FAB-D218076E36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1177" y="107778"/>
            <a:ext cx="5140823" cy="301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3898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/>
              <a:t>It has been 3 years since ChatGPT was released.</a:t>
            </a:r>
          </a:p>
          <a:p>
            <a:r>
              <a:rPr lang="en-GB" dirty="0"/>
              <a:t>The 6 months from arranging this talk to doing it is a very long time in AI with great changes in that time.</a:t>
            </a:r>
          </a:p>
          <a:p>
            <a:r>
              <a:rPr lang="en-GB" dirty="0"/>
              <a:t>The next 6 months/1 year/2 years?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3B412-5155-7A47-ABCA-B084173F6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12402" y="2545147"/>
            <a:ext cx="3215895" cy="321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1466</Words>
  <Application>Microsoft Office PowerPoint</Application>
  <PresentationFormat>Widescreen</PresentationFormat>
  <Paragraphs>164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Aptos Display</vt:lpstr>
      <vt:lpstr>Arial</vt:lpstr>
      <vt:lpstr>Consolas</vt:lpstr>
      <vt:lpstr>Office Theme</vt:lpstr>
      <vt:lpstr>AI Agents in the Data Pipeline</vt:lpstr>
      <vt:lpstr>Desired Outcomes</vt:lpstr>
      <vt:lpstr>Raw code implementation of an Agent</vt:lpstr>
      <vt:lpstr>Agenda </vt:lpstr>
      <vt:lpstr>Model costs</vt:lpstr>
      <vt:lpstr>About me</vt:lpstr>
      <vt:lpstr>What is an AI Agent?</vt:lpstr>
      <vt:lpstr>Using email as an example</vt:lpstr>
      <vt:lpstr>Raw code implementation of an Agent</vt:lpstr>
      <vt:lpstr>Prompt Engineering</vt:lpstr>
      <vt:lpstr>Context Engineering</vt:lpstr>
      <vt:lpstr>Supplying more Context (information)</vt:lpstr>
      <vt:lpstr>What is Tool/Function calling? </vt:lpstr>
      <vt:lpstr>What is Tool/Function calling?</vt:lpstr>
      <vt:lpstr>Reflection Pattern - looping</vt:lpstr>
      <vt:lpstr>What is Tool/Function calling?</vt:lpstr>
      <vt:lpstr>What is Tool/Function calling?</vt:lpstr>
      <vt:lpstr>Another example of reflection</vt:lpstr>
      <vt:lpstr>What is the Model Context Protocol (MCP)?</vt:lpstr>
      <vt:lpstr>What is the Model Context Protocol (MCP)?</vt:lpstr>
      <vt:lpstr>What is the Model Context Protocol (MCP)?</vt:lpstr>
      <vt:lpstr>What is the Model Context Protocol (MCP)?</vt:lpstr>
      <vt:lpstr>What is the Agent2Agent Protocol (A2A)?</vt:lpstr>
      <vt:lpstr>Google CRM Agent (1)</vt:lpstr>
      <vt:lpstr>Google CRM Agent (2)</vt:lpstr>
      <vt:lpstr>A complete demo (1)</vt:lpstr>
      <vt:lpstr>A complete demo (2)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108</cp:revision>
  <dcterms:created xsi:type="dcterms:W3CDTF">2025-08-05T17:00:53Z</dcterms:created>
  <dcterms:modified xsi:type="dcterms:W3CDTF">2025-10-14T09:38:01Z</dcterms:modified>
</cp:coreProperties>
</file>