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88" r:id="rId3"/>
    <p:sldId id="258" r:id="rId4"/>
    <p:sldId id="275" r:id="rId5"/>
    <p:sldId id="298" r:id="rId6"/>
    <p:sldId id="297" r:id="rId7"/>
    <p:sldId id="261" r:id="rId8"/>
    <p:sldId id="291" r:id="rId9"/>
    <p:sldId id="263" r:id="rId10"/>
    <p:sldId id="282" r:id="rId11"/>
    <p:sldId id="273" r:id="rId12"/>
    <p:sldId id="299" r:id="rId13"/>
    <p:sldId id="296" r:id="rId14"/>
    <p:sldId id="283" r:id="rId15"/>
    <p:sldId id="290" r:id="rId16"/>
    <p:sldId id="284" r:id="rId17"/>
    <p:sldId id="285" r:id="rId18"/>
    <p:sldId id="265" r:id="rId19"/>
    <p:sldId id="287" r:id="rId20"/>
    <p:sldId id="292" r:id="rId21"/>
    <p:sldId id="294" r:id="rId22"/>
    <p:sldId id="289" r:id="rId23"/>
    <p:sldId id="267" r:id="rId24"/>
    <p:sldId id="295" r:id="rId25"/>
    <p:sldId id="293" r:id="rId26"/>
    <p:sldId id="279" r:id="rId27"/>
    <p:sldId id="277" r:id="rId28"/>
    <p:sldId id="280" r:id="rId29"/>
    <p:sldId id="281" r:id="rId30"/>
    <p:sldId id="268" r:id="rId31"/>
    <p:sldId id="278" r:id="rId32"/>
    <p:sldId id="270" r:id="rId3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A3A3A"/>
    <a:srgbClr val="676767"/>
    <a:srgbClr val="FAF0E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82" d="100"/>
          <a:sy n="82" d="100"/>
        </p:scale>
        <p:origin x="720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4441D-C48A-EAEF-C81C-A8436A666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B90243-B3F6-EB2E-31F9-22051F8B8B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9049C5-0E4F-9E60-7B47-BBB40AE70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060D28-C6ED-1568-F8AF-3FFA865126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9A7B145-53CC-3B1D-015F-B17A59CC30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429636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7E8941-8402-9FA5-6CAA-6FBDAF7921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EC6C27-4CB8-F13D-040F-A734CF7D31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F1461A-FBA5-164D-F4D8-EEFF76651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85F070-1C89-053C-F77D-8F749F069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98C556-DEDF-1889-A606-5B4AED56BB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26518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E82CE-CE86-501D-D574-EAD49A14C2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3102754-4D74-3776-BD68-41D984B3F1D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65F6EC-49F9-4525-C22A-15DE545F85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39E6EBF-C6DF-14B3-2F27-56BD51A9DC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E9B6B-1B7E-5C71-AB60-E65FF64370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600436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19B18-F254-EE52-9926-04C2F393A9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28B536-B9A1-852F-350E-22A590687D0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6F50BC-551E-40EA-83F4-5543F996A1D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AE4A376-9215-F411-5C25-7769A9868C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9D36E61-1D23-33AD-5399-91F8B16C9B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3E90AB-BA98-5EF4-1D6D-0765E4CCE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86255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DFF011-D64D-090C-079F-89425C852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E502D-4955-FDA4-3A6D-DF8A783846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EC7B6FF-3C06-3FE1-A4E2-919C5FD1F6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BC83819-8EA2-7FCC-A3B2-6167CC6EE35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179F454-E36C-9D63-FF02-109B2752596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DAEBB636-3CFC-80A3-B778-D327ECCBD0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33A3C15-8C7D-CDE8-BB53-C18E078A5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A19C6D5-A43B-3F7D-2C39-5AC7119208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948321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23B1E6-B11B-73B5-44BD-A1B55449D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CEEE820-462E-3882-2FB8-BD8C66B6D5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7661C54-F33D-8002-442C-77B0A828F5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B2F52C-7267-5988-077E-F89EAD29CC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03999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5254D5-4248-E9AB-B909-7EE411388B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8C93759-FC42-D9A9-6AEF-E3F23A1044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6C667ED-3667-39A4-5734-9BE60A39EB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430999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73BE0-EA29-5C38-A587-FA74AB2EE5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79D9BFD-494B-F83B-287A-A94D65E054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EEF074-F04E-8282-8AEC-189DF0F5275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591BFE1-AE60-6DFC-2433-A8F3D071F0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65DEE8E-8218-6F94-2BF2-7A17766E4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ED638-11FD-AA1B-1BC4-FE1620DE0D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98379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34308D-FDF1-1E2D-63E2-E4E71B112D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95146BF-5314-23ED-5D37-98EB4F4AF02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1B35A6-08E9-62E2-FC17-0528F612694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469ABBC-6369-E192-9B29-CAD2DA9389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3B6A36D-7668-2AA5-EA45-0059BE8EAB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87D1F9-75B6-4D84-0A59-34F94D749E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80642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3AA11-65D8-ADB6-8A49-C20D82A80C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B48F60C-B9BC-E6AD-B22B-EC6198CDF2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37FCFC-DC56-E823-8D98-00A7E7FA0D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F249225-10F7-DE8B-5506-69149BB8B8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58D5F7-EE72-95F9-E215-2760F7158A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632083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BCE90A7-10A5-EB91-C4A4-E9710B5B70A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9F12AB-D2FD-BF8F-78B9-D73C25074E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E604CE-3906-0838-B1C1-D5D3F5B328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2DD754-CAB9-A4E0-8283-D0CB956DA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41CAFC-0AC4-DE2E-2973-FA47D1F8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599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4A687E-E14D-5B06-488A-4DAC540455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1F2B3DC-1FFC-7596-6D00-12C5081D97F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D1B98D-A2B3-C56E-D0EB-5EF295B236D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B02A21-FE86-45F5-9B8B-75D343822DB2}" type="datetimeFigureOut">
              <a:rPr lang="en-GB" smtClean="0"/>
              <a:t>15/10/2025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AF6E5-AEA1-0818-5E83-CC0E17BBCCB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B38594-1EB3-2176-4D4B-E66BE62EF9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719E74C-A37F-4000-8844-490BE41675D7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38678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mcpservers.org/servers/modelcontextprotocol/fetch" TargetMode="Externa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vladkol/crm-data-agent/blob/main/src/agents/data_agent/prompts/crm_business_analyst.py" TargetMode="Externa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382188-6D11-9393-FF28-09CC4D2EA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AI Agents in the Data Pipeline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6217B-6C60-689B-D97F-62DAE026B1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Talk Slides and Repo: 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This also contains links to a video of the BrighonPy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talk/workshop on </a:t>
            </a:r>
            <a:r>
              <a:rPr lang="en-GB" sz="2000" b="1" dirty="0">
                <a:solidFill>
                  <a:srgbClr val="3A3A3A"/>
                </a:solidFill>
              </a:rPr>
              <a:t>‘AI as API’ </a:t>
            </a:r>
            <a:r>
              <a:rPr lang="en-GB" sz="2000" dirty="0">
                <a:solidFill>
                  <a:srgbClr val="3A3A3A"/>
                </a:solidFill>
              </a:rPr>
              <a:t>and the repo for the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PyData Southampton Meetup </a:t>
            </a:r>
            <a:r>
              <a:rPr lang="en-GB" sz="2000" b="1" dirty="0">
                <a:solidFill>
                  <a:srgbClr val="3A3A3A"/>
                </a:solidFill>
              </a:rPr>
              <a:t>‘AI Agents in The Data Pipeline’ </a:t>
            </a:r>
          </a:p>
          <a:p>
            <a:pPr marL="0" indent="0">
              <a:buNone/>
            </a:pPr>
            <a:r>
              <a:rPr lang="en-GB" sz="2000" dirty="0">
                <a:solidFill>
                  <a:srgbClr val="3A3A3A"/>
                </a:solidFill>
              </a:rPr>
              <a:t>as well as additional resources.</a:t>
            </a:r>
          </a:p>
          <a:p>
            <a:endParaRPr lang="en-GB" dirty="0"/>
          </a:p>
        </p:txBody>
      </p:sp>
      <p:pic>
        <p:nvPicPr>
          <p:cNvPr id="5" name="Picture 4" descr="A person in a vest&#10;&#10;AI-generated content may be incorrect.">
            <a:extLst>
              <a:ext uri="{FF2B5EF4-FFF2-40B4-BE49-F238E27FC236}">
                <a16:creationId xmlns:a16="http://schemas.microsoft.com/office/drawing/2014/main" id="{C5699462-BEF0-2C2F-B977-80AD8BEDB6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7523" y="1413031"/>
            <a:ext cx="2309351" cy="200798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3A413D5-91FF-176F-D188-6D08F0B881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37523" y="3549142"/>
            <a:ext cx="2642419" cy="26424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03294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3CAD92-64A2-9E64-259C-D0FEF3A003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969965-CBD5-3274-6734-01C0F3F1DE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About me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ED4D5-40EE-1AD6-45EB-5319021B10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78756" y="1306963"/>
            <a:ext cx="10596715" cy="5013125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5" name="Picture 4" descr="A close-up of a machine&#10;&#10;AI-generated content may be incorrect.">
            <a:extLst>
              <a:ext uri="{FF2B5EF4-FFF2-40B4-BE49-F238E27FC236}">
                <a16:creationId xmlns:a16="http://schemas.microsoft.com/office/drawing/2014/main" id="{F3C50833-41C6-6D1F-F30A-524D489332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63846" y="132285"/>
            <a:ext cx="4098358" cy="30737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9040783-80F7-1202-94D3-180CF27290F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959182" y="3304497"/>
            <a:ext cx="2243490" cy="2991321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DCAABF9-7D6A-30DB-DFA8-35DA30991B0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46708" y="1049967"/>
            <a:ext cx="5944339" cy="236713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6AD9A928-8A3F-EBB4-94C3-AF298183888F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726311" y="3440898"/>
            <a:ext cx="4115191" cy="2742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2068A3-9DA4-4572-DE52-739BD2F63608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063846" y="3304498"/>
            <a:ext cx="1888657" cy="301559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5E471F2-6442-2689-1749-634EA09A3A44}"/>
              </a:ext>
            </a:extLst>
          </p:cNvPr>
          <p:cNvSpPr txBox="1"/>
          <p:nvPr/>
        </p:nvSpPr>
        <p:spPr>
          <a:xfrm>
            <a:off x="1643866" y="3465982"/>
            <a:ext cx="444541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highlight>
                  <a:srgbClr val="FFFF00"/>
                </a:highlight>
              </a:rPr>
              <a:t> I live about 1 mile north…  </a:t>
            </a:r>
          </a:p>
        </p:txBody>
      </p:sp>
    </p:spTree>
    <p:extLst>
      <p:ext uri="{BB962C8B-B14F-4D97-AF65-F5344CB8AC3E}">
        <p14:creationId xmlns:p14="http://schemas.microsoft.com/office/powerpoint/2010/main" val="15492584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1BE0FD-ADCA-CCF5-0B57-5D8DF56054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2156C-A5C9-AA8F-EEF2-77BEE7862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Desired Outcomes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BB9BD8-BC61-C573-3980-DB156FB91D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better understand the Agent Landscape, its terminology, basis and uses. 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demystify and simplify what an Agent is.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To see the uses of </a:t>
            </a:r>
            <a:r>
              <a:rPr lang="en-GB" sz="3200" b="1" dirty="0">
                <a:solidFill>
                  <a:srgbClr val="3A3A3A"/>
                </a:solidFill>
              </a:rPr>
              <a:t>AI Agents in the Data Pipeline</a:t>
            </a:r>
            <a:r>
              <a:rPr lang="en-GB" sz="3200" dirty="0">
                <a:solidFill>
                  <a:srgbClr val="3A3A3A"/>
                </a:solidFill>
              </a:rPr>
              <a:t> and the likely future of Data Pipeline applications.</a:t>
            </a:r>
          </a:p>
          <a:p>
            <a:pPr marL="0" indent="0">
              <a:buNone/>
            </a:pPr>
            <a:endParaRPr lang="en-GB" sz="800" dirty="0">
              <a:solidFill>
                <a:srgbClr val="3A3A3A"/>
              </a:solidFill>
            </a:endParaRPr>
          </a:p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This is a ‘fly by’ rather than ‘deep dive’. The repo has more detailed examples and links to help you go  further and deeper.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0080448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B223AA4-507E-D8B3-7DEB-D9083974A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9CC66-10D3-E183-1C5E-7DBAE87563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pic>
        <p:nvPicPr>
          <p:cNvPr id="5" name="Picture 4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4C2BFCCB-3F23-3098-3C1E-2D76213CD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8057775" y="1847529"/>
            <a:ext cx="2466975" cy="1847850"/>
          </a:xfrm>
          <a:prstGeom prst="rect">
            <a:avLst/>
          </a:prstGeom>
        </p:spPr>
      </p:pic>
      <p:pic>
        <p:nvPicPr>
          <p:cNvPr id="7" name="Picture 6" descr="A black computer mouse on a white background&#10;&#10;AI-generated content may be incorrect.">
            <a:extLst>
              <a:ext uri="{FF2B5EF4-FFF2-40B4-BE49-F238E27FC236}">
                <a16:creationId xmlns:a16="http://schemas.microsoft.com/office/drawing/2014/main" id="{BDAFD253-325D-AA4F-E8B1-F2175AD4E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8332" y="1847530"/>
            <a:ext cx="2466975" cy="18478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85A72E3-B4A4-739E-FAF5-D9B5DFCEC120}"/>
              </a:ext>
            </a:extLst>
          </p:cNvPr>
          <p:cNvSpPr txBox="1"/>
          <p:nvPr/>
        </p:nvSpPr>
        <p:spPr>
          <a:xfrm>
            <a:off x="750014" y="4099388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No more difficult than what we do currently – just 180 degrees different</a:t>
            </a:r>
          </a:p>
        </p:txBody>
      </p:sp>
      <p:sp>
        <p:nvSpPr>
          <p:cNvPr id="9" name="Arrow: Curved Down 8">
            <a:extLst>
              <a:ext uri="{FF2B5EF4-FFF2-40B4-BE49-F238E27FC236}">
                <a16:creationId xmlns:a16="http://schemas.microsoft.com/office/drawing/2014/main" id="{53323BF1-393A-213D-B6C3-D6FAA296990D}"/>
              </a:ext>
            </a:extLst>
          </p:cNvPr>
          <p:cNvSpPr/>
          <p:nvPr/>
        </p:nvSpPr>
        <p:spPr>
          <a:xfrm>
            <a:off x="4224046" y="1899809"/>
            <a:ext cx="3184989" cy="1743290"/>
          </a:xfrm>
          <a:prstGeom prst="curvedDownArrow">
            <a:avLst/>
          </a:prstGeom>
          <a:solidFill>
            <a:schemeClr val="accent2">
              <a:lumMod val="7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85AE486-5F44-81B6-3E5C-D762ABEA4AC2}"/>
              </a:ext>
            </a:extLst>
          </p:cNvPr>
          <p:cNvSpPr txBox="1"/>
          <p:nvPr/>
        </p:nvSpPr>
        <p:spPr>
          <a:xfrm>
            <a:off x="750014" y="5078897"/>
            <a:ext cx="1106526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/>
              <a:t>“It doesn’t get any easier – just different” - Anon </a:t>
            </a:r>
          </a:p>
        </p:txBody>
      </p:sp>
    </p:spTree>
    <p:extLst>
      <p:ext uri="{BB962C8B-B14F-4D97-AF65-F5344CB8AC3E}">
        <p14:creationId xmlns:p14="http://schemas.microsoft.com/office/powerpoint/2010/main" val="31224460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D33177E-9923-FE25-C0D5-227D461667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5DC67-ADA8-1FC2-1A6A-8D42786881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71A7E0-034B-F6BF-2DCD-50420590A298}"/>
              </a:ext>
            </a:extLst>
          </p:cNvPr>
          <p:cNvSpPr txBox="1"/>
          <p:nvPr/>
        </p:nvSpPr>
        <p:spPr>
          <a:xfrm>
            <a:off x="843320" y="2111967"/>
            <a:ext cx="11065267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Just one API endpoint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Instructions are written on client and sent with request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Use Natural Language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GB" sz="4400" dirty="0"/>
              <a:t>An example prompt…</a:t>
            </a:r>
          </a:p>
        </p:txBody>
      </p:sp>
    </p:spTree>
    <p:extLst>
      <p:ext uri="{BB962C8B-B14F-4D97-AF65-F5344CB8AC3E}">
        <p14:creationId xmlns:p14="http://schemas.microsoft.com/office/powerpoint/2010/main" val="17756934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30A25C6-976C-C0B9-F0CA-A9DF523440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04B778B-094A-B174-63FC-3298F89010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914" y="202896"/>
            <a:ext cx="7702172" cy="6452207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7F783DC3-8F3E-63B0-F158-14B6931E6CDB}"/>
              </a:ext>
            </a:extLst>
          </p:cNvPr>
          <p:cNvSpPr txBox="1"/>
          <p:nvPr/>
        </p:nvSpPr>
        <p:spPr>
          <a:xfrm>
            <a:off x="3741576" y="289249"/>
            <a:ext cx="634481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bg1"/>
                </a:solidFill>
              </a:rPr>
              <a:t>06_demo_prompt_google_crm.md</a:t>
            </a:r>
          </a:p>
        </p:txBody>
      </p:sp>
    </p:spTree>
    <p:extLst>
      <p:ext uri="{BB962C8B-B14F-4D97-AF65-F5344CB8AC3E}">
        <p14:creationId xmlns:p14="http://schemas.microsoft.com/office/powerpoint/2010/main" val="2026532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6D404B2-BE35-5A3B-426A-8BDDD656B6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2F5709-02C1-27DD-6DDD-01E0B83841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Agenda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92258F-F0A1-CB43-82E4-BA6F9A5F3E9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145901"/>
            <a:ext cx="10596715" cy="5444969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200" dirty="0">
                <a:solidFill>
                  <a:srgbClr val="3A3A3A"/>
                </a:solidFill>
              </a:rPr>
              <a:t>With code examples where appropriate:</a:t>
            </a:r>
            <a:endParaRPr lang="en-GB" sz="8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AI Agents from scratch – a POST API Request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Understand what Tool/Function calling are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Agentic Patterns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Model Context Protocol – changing app architecture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Demos of some patterns </a:t>
            </a:r>
          </a:p>
          <a:p>
            <a:pPr lvl="1">
              <a:lnSpc>
                <a:spcPts val="4400"/>
              </a:lnSpc>
            </a:pPr>
            <a:r>
              <a:rPr lang="en-GB" sz="3200" dirty="0">
                <a:solidFill>
                  <a:srgbClr val="3A3A3A"/>
                </a:solidFill>
              </a:rPr>
              <a:t>Final demo of Cline building a data pipeline from scratch and producing a Business Intelligence report form the charts and graphs.</a:t>
            </a: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lvl="1">
              <a:lnSpc>
                <a:spcPts val="4400"/>
              </a:lnSpc>
            </a:pPr>
            <a:endParaRPr lang="en-GB" sz="3200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4591655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3791B-8DEA-52AA-EE90-B39E7103F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3F80D4-47D2-5718-8DC0-05BF3D23C0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Model costs</a:t>
            </a:r>
          </a:p>
        </p:txBody>
      </p:sp>
      <p:pic>
        <p:nvPicPr>
          <p:cNvPr id="4" name="Content Placeholder 3" descr="A graph with colored lines and numbers&#10;&#10;AI-generated content may be incorrect.">
            <a:extLst>
              <a:ext uri="{FF2B5EF4-FFF2-40B4-BE49-F238E27FC236}">
                <a16:creationId xmlns:a16="http://schemas.microsoft.com/office/drawing/2014/main" id="{C05A1683-F503-D79D-B919-D7BBD1D74C8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48676" y="1097729"/>
            <a:ext cx="8280444" cy="485078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09014E3-FCA2-D8C8-C6A2-127E18ED02B5}"/>
              </a:ext>
            </a:extLst>
          </p:cNvPr>
          <p:cNvSpPr txBox="1"/>
          <p:nvPr/>
        </p:nvSpPr>
        <p:spPr>
          <a:xfrm>
            <a:off x="147484" y="6037006"/>
            <a:ext cx="1157256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200" dirty="0"/>
              <a:t>Cost of a unit of ‘intelligence has dropped ~ 99% in last two years and is 10x a year (anecdotal)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C255B19-D2F6-8058-89EC-D3ADC6419387}"/>
              </a:ext>
            </a:extLst>
          </p:cNvPr>
          <p:cNvSpPr txBox="1"/>
          <p:nvPr/>
        </p:nvSpPr>
        <p:spPr>
          <a:xfrm>
            <a:off x="7654247" y="3770616"/>
            <a:ext cx="37806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Models have become increasingly more capable and ‘intelligent’.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EDAE12D-78AF-C433-0B30-1E35B82B1C36}"/>
              </a:ext>
            </a:extLst>
          </p:cNvPr>
          <p:cNvSpPr txBox="1"/>
          <p:nvPr/>
        </p:nvSpPr>
        <p:spPr>
          <a:xfrm>
            <a:off x="4040154" y="78966"/>
            <a:ext cx="7847045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/>
              <a:t>The final Cline demo the cost per intelligence has dropped by a factor of 2-4 in last 3 months</a:t>
            </a:r>
          </a:p>
        </p:txBody>
      </p:sp>
    </p:spTree>
    <p:extLst>
      <p:ext uri="{BB962C8B-B14F-4D97-AF65-F5344CB8AC3E}">
        <p14:creationId xmlns:p14="http://schemas.microsoft.com/office/powerpoint/2010/main" val="9752527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347564E-77B5-A1B3-4D8A-5BB5653DB1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45CE4-27DE-F4A8-F6E6-AB0BFE9E0E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an AI Agent?</a:t>
            </a:r>
          </a:p>
        </p:txBody>
      </p:sp>
      <p:pic>
        <p:nvPicPr>
          <p:cNvPr id="5" name="Content Placeholder 4" descr="A white background with black text&#10;&#10;AI-generated content may be incorrect.">
            <a:extLst>
              <a:ext uri="{FF2B5EF4-FFF2-40B4-BE49-F238E27FC236}">
                <a16:creationId xmlns:a16="http://schemas.microsoft.com/office/drawing/2014/main" id="{C5945021-DA27-E6E7-4078-598B7B83A45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6867" y="3621288"/>
            <a:ext cx="7819867" cy="2002649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70FE6C9-06DD-BD42-AAA1-C250315A7DD0}"/>
              </a:ext>
            </a:extLst>
          </p:cNvPr>
          <p:cNvSpPr txBox="1"/>
          <p:nvPr/>
        </p:nvSpPr>
        <p:spPr>
          <a:xfrm>
            <a:off x="1006866" y="2782669"/>
            <a:ext cx="618504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600" dirty="0"/>
              <a:t>Anthropic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0574A54-4BBE-E586-ECF8-9E088A1BAD42}"/>
              </a:ext>
            </a:extLst>
          </p:cNvPr>
          <p:cNvSpPr txBox="1"/>
          <p:nvPr/>
        </p:nvSpPr>
        <p:spPr>
          <a:xfrm>
            <a:off x="1006866" y="1923040"/>
            <a:ext cx="10428047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Many definitions but people opt for ‘Agentic Apps’</a:t>
            </a:r>
          </a:p>
        </p:txBody>
      </p:sp>
    </p:spTree>
    <p:extLst>
      <p:ext uri="{BB962C8B-B14F-4D97-AF65-F5344CB8AC3E}">
        <p14:creationId xmlns:p14="http://schemas.microsoft.com/office/powerpoint/2010/main" val="320218094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29EC48-3CA3-2F82-140E-A68CF605C1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31C23-0F5B-6002-821F-7DF71C3634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Using email as an example/ChatGPT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36402C1-B29A-A4FD-F444-AF3C8F2B09D3}"/>
              </a:ext>
            </a:extLst>
          </p:cNvPr>
          <p:cNvSpPr txBox="1"/>
          <p:nvPr/>
        </p:nvSpPr>
        <p:spPr>
          <a:xfrm>
            <a:off x="919314" y="1921267"/>
            <a:ext cx="9961019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use the example of an email. We use HTTP POST to send the message to a SINGLE endpoint</a:t>
            </a:r>
          </a:p>
          <a:p>
            <a:endParaRPr lang="en-GB" sz="3200" dirty="0"/>
          </a:p>
          <a:p>
            <a:r>
              <a:rPr lang="en-GB" sz="3200" dirty="0"/>
              <a:t>Payload of instructions and context (info) that we send for the end user to process for us and return a response.</a:t>
            </a:r>
          </a:p>
          <a:p>
            <a:endParaRPr lang="en-GB" sz="3200" dirty="0"/>
          </a:p>
          <a:p>
            <a:r>
              <a:rPr lang="en-GB" sz="3200" dirty="0"/>
              <a:t>An LLM call in an Agent is similar…we send an ‘email’ of instructions and attached data to an ENDPOINT.</a:t>
            </a:r>
          </a:p>
        </p:txBody>
      </p:sp>
    </p:spTree>
    <p:extLst>
      <p:ext uri="{BB962C8B-B14F-4D97-AF65-F5344CB8AC3E}">
        <p14:creationId xmlns:p14="http://schemas.microsoft.com/office/powerpoint/2010/main" val="125078605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EABF0B7-F482-2446-C127-C90E4C449E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83DC5-BF67-7FA4-0059-A3065D06F6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Raw code implementation of an Agent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F30FB64-851F-A3BD-15E6-081CA203201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CC3E06EB-B068-8B1E-DAD0-22AA8B73F5D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9314" y="1516027"/>
            <a:ext cx="10169976" cy="255440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5D56192-ABBE-2091-88D5-4A8E317C0F2D}"/>
              </a:ext>
            </a:extLst>
          </p:cNvPr>
          <p:cNvSpPr txBox="1"/>
          <p:nvPr/>
        </p:nvSpPr>
        <p:spPr>
          <a:xfrm>
            <a:off x="919314" y="4530903"/>
            <a:ext cx="1016997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Let’s look at </a:t>
            </a:r>
            <a:r>
              <a:rPr lang="en-GB" sz="3200" dirty="0">
                <a:latin typeface="Consolas" panose="020B0609020204030204" pitchFamily="49" charset="0"/>
              </a:rPr>
              <a:t>01_raw_post_request.py </a:t>
            </a:r>
            <a:r>
              <a:rPr lang="en-GB" sz="3200" dirty="0"/>
              <a:t>in the repo…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456269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F5EE122-88C2-3500-06D7-4FE8A656DD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66D44F7-3230-3868-513E-3AE2564825D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44914" y="202896"/>
            <a:ext cx="7702172" cy="6452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33039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B6A6612-87DC-2CBE-FBAA-EA5FEBC23C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C6EBFC-5D59-3933-7858-ED6A34042A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99593"/>
            <a:ext cx="10515600" cy="4351338"/>
          </a:xfrm>
        </p:spPr>
        <p:txBody>
          <a:bodyPr>
            <a:normAutofit/>
          </a:bodyPr>
          <a:lstStyle/>
          <a:p>
            <a:endParaRPr lang="en-GB" dirty="0"/>
          </a:p>
          <a:p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C9A01CC-4033-40A6-CFC2-90F79BC9E4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757086" y="426827"/>
            <a:ext cx="10589942" cy="5992634"/>
          </a:xfrm>
          <a:prstGeom prst="rect">
            <a:avLst/>
          </a:prstGeom>
        </p:spPr>
      </p:pic>
      <p:sp>
        <p:nvSpPr>
          <p:cNvPr id="3" name="Arrow: Down 2">
            <a:extLst>
              <a:ext uri="{FF2B5EF4-FFF2-40B4-BE49-F238E27FC236}">
                <a16:creationId xmlns:a16="http://schemas.microsoft.com/office/drawing/2014/main" id="{EDCE84B9-A78C-3A76-ED4B-41EBC59068D2}"/>
              </a:ext>
            </a:extLst>
          </p:cNvPr>
          <p:cNvSpPr/>
          <p:nvPr/>
        </p:nvSpPr>
        <p:spPr>
          <a:xfrm rot="5400000">
            <a:off x="5635689" y="1618663"/>
            <a:ext cx="690465" cy="1749687"/>
          </a:xfrm>
          <a:prstGeom prst="downArrow">
            <a:avLst/>
          </a:prstGeom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378268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8651D2A-02B5-5CCA-C9C5-B941C73F48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7B1661-39EF-3100-35DE-A22E3B1874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Prompt Engineering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939117-0E78-393C-CF46-ABB7F6331B86}"/>
              </a:ext>
            </a:extLst>
          </p:cNvPr>
          <p:cNvSpPr txBox="1"/>
          <p:nvPr/>
        </p:nvSpPr>
        <p:spPr>
          <a:xfrm>
            <a:off x="919314" y="1366462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/>
              <a:t>Essentially a set of instructions…</a:t>
            </a:r>
          </a:p>
          <a:p>
            <a:endParaRPr lang="en-GB" sz="3200" dirty="0">
              <a:solidFill>
                <a:schemeClr val="accent5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“Tell me about Data Analytics in 100 words</a:t>
            </a:r>
            <a:r>
              <a:rPr lang="en-GB" sz="3200" dirty="0">
                <a:solidFill>
                  <a:srgbClr val="3A3A3A"/>
                </a:solidFill>
              </a:rPr>
              <a:t>…” will give a pretrained response…</a:t>
            </a:r>
          </a:p>
          <a:p>
            <a:endParaRPr lang="en-GB" sz="3200" dirty="0"/>
          </a:p>
          <a:p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 Tell me about Data Analytics and how it can help me with our sales analysis for the last quarter…” </a:t>
            </a:r>
            <a:r>
              <a:rPr lang="en-GB" sz="3200" dirty="0"/>
              <a:t>will give us a response of:  </a:t>
            </a:r>
            <a:r>
              <a:rPr lang="en-GB" sz="3200" dirty="0">
                <a:solidFill>
                  <a:schemeClr val="accent5">
                    <a:lumMod val="75000"/>
                  </a:schemeClr>
                </a:solidFill>
              </a:rPr>
              <a:t>“I need more info…” as it has not been trained on our data.”</a:t>
            </a:r>
          </a:p>
        </p:txBody>
      </p:sp>
    </p:spTree>
    <p:extLst>
      <p:ext uri="{BB962C8B-B14F-4D97-AF65-F5344CB8AC3E}">
        <p14:creationId xmlns:p14="http://schemas.microsoft.com/office/powerpoint/2010/main" val="50999307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4E868BA-1FA8-EBCC-86D9-3ACBD72593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8864-E449-91BB-7CCA-430EEEA75D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Context Engineering</a:t>
            </a:r>
          </a:p>
        </p:txBody>
      </p:sp>
      <p:pic>
        <p:nvPicPr>
          <p:cNvPr id="6" name="Picture 5" descr="A close-up of a website&#10;&#10;AI-generated content may be incorrect.">
            <a:extLst>
              <a:ext uri="{FF2B5EF4-FFF2-40B4-BE49-F238E27FC236}">
                <a16:creationId xmlns:a16="http://schemas.microsoft.com/office/drawing/2014/main" id="{7B403DEF-8780-7F55-25B4-2FB3830C90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8252" y="1762607"/>
            <a:ext cx="10455151" cy="36210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193923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6EE9F1D-F9B0-DA1A-78CD-C33DF147D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3BFE2A-3DB5-5136-73B2-E1137CA0F5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Supplying more Context (information)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4ED288D-569F-D60C-8A43-685A113030E3}"/>
              </a:ext>
            </a:extLst>
          </p:cNvPr>
          <p:cNvSpPr txBox="1"/>
          <p:nvPr/>
        </p:nvSpPr>
        <p:spPr>
          <a:xfrm>
            <a:off x="919314" y="1438381"/>
            <a:ext cx="996101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</a:t>
            </a:r>
            <a:r>
              <a:rPr lang="en-GB" sz="3200" i="1" dirty="0">
                <a:solidFill>
                  <a:schemeClr val="accent2">
                    <a:lumMod val="75000"/>
                  </a:schemeClr>
                </a:solidFill>
              </a:rPr>
              <a:t>here is </a:t>
            </a:r>
            <a:r>
              <a:rPr lang="en-GB" sz="3200" b="1" i="1" dirty="0">
                <a:solidFill>
                  <a:schemeClr val="accent2">
                    <a:lumMod val="75000"/>
                  </a:schemeClr>
                </a:solidFill>
              </a:rPr>
              <a:t>some data </a:t>
            </a:r>
            <a:r>
              <a:rPr lang="en-GB" sz="3200" i="1" dirty="0">
                <a:solidFill>
                  <a:schemeClr val="accent2">
                    <a:lumMod val="75000"/>
                  </a:schemeClr>
                </a:solidFill>
              </a:rPr>
              <a:t>from our company</a:t>
            </a:r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, please analyse…”</a:t>
            </a:r>
          </a:p>
          <a:p>
            <a:endParaRPr lang="en-GB" sz="3200" dirty="0"/>
          </a:p>
          <a:p>
            <a:r>
              <a:rPr lang="en-GB" sz="3200" dirty="0"/>
              <a:t>This is context engineering where we supply appropriate context for the Agent. </a:t>
            </a:r>
          </a:p>
          <a:p>
            <a:endParaRPr lang="en-GB" sz="3200" dirty="0"/>
          </a:p>
          <a:p>
            <a:r>
              <a:rPr lang="en-GB" sz="3200" dirty="0"/>
              <a:t>RAG is Retrieval Augmented Generation and is RETRIEVING extra content from a range of sources for the prompt – not just Vector Databases.</a:t>
            </a:r>
          </a:p>
        </p:txBody>
      </p:sp>
    </p:spTree>
    <p:extLst>
      <p:ext uri="{BB962C8B-B14F-4D97-AF65-F5344CB8AC3E}">
        <p14:creationId xmlns:p14="http://schemas.microsoft.com/office/powerpoint/2010/main" val="21558513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F0AF258-6642-08C5-D4DA-FA5BA3DEB6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683726-1E1A-3007-AD79-64578B8B1F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</a:t>
            </a:r>
            <a:r>
              <a:rPr lang="en-GB">
                <a:solidFill>
                  <a:srgbClr val="676767"/>
                </a:solidFill>
              </a:rPr>
              <a:t>? 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681BDFC-E84D-DF43-6FE4-0563152F41EC}"/>
              </a:ext>
            </a:extLst>
          </p:cNvPr>
          <p:cNvSpPr txBox="1"/>
          <p:nvPr/>
        </p:nvSpPr>
        <p:spPr>
          <a:xfrm>
            <a:off x="919313" y="1955299"/>
            <a:ext cx="9961019" cy="45704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GB" sz="3200" dirty="0"/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“Tell me about Data Analytics and here is some data…</a:t>
            </a:r>
          </a:p>
          <a:p>
            <a:endParaRPr lang="en-GB" sz="1200" dirty="0">
              <a:solidFill>
                <a:schemeClr val="accent2">
                  <a:lumMod val="75000"/>
                </a:schemeClr>
              </a:solidFill>
            </a:endParaRPr>
          </a:p>
          <a:p>
            <a:r>
              <a:rPr lang="en-GB" sz="3200" dirty="0">
                <a:solidFill>
                  <a:schemeClr val="accent2">
                    <a:lumMod val="75000"/>
                  </a:schemeClr>
                </a:solidFill>
              </a:rPr>
              <a:t>Also compare our share price with {company X}…”</a:t>
            </a:r>
          </a:p>
          <a:p>
            <a:endParaRPr lang="en-GB" sz="1100" dirty="0"/>
          </a:p>
          <a:p>
            <a:r>
              <a:rPr lang="en-GB" sz="3200" dirty="0"/>
              <a:t>We don’t know this information at time of the request as it will vary with each query.</a:t>
            </a:r>
          </a:p>
          <a:p>
            <a:endParaRPr lang="en-GB" sz="1200" dirty="0"/>
          </a:p>
          <a:p>
            <a:r>
              <a:rPr lang="en-GB" sz="3200" dirty="0"/>
              <a:t>We need a tool/function the Agent can use to get the share price… </a:t>
            </a:r>
            <a:r>
              <a:rPr lang="en-GB" sz="3200" b="1" dirty="0"/>
              <a:t>“tool/function calling”</a:t>
            </a:r>
          </a:p>
          <a:p>
            <a:endParaRPr lang="en-GB" sz="32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A992F7E-D232-E7FC-2BFF-DF740EBA7039}"/>
              </a:ext>
            </a:extLst>
          </p:cNvPr>
          <p:cNvSpPr txBox="1"/>
          <p:nvPr/>
        </p:nvSpPr>
        <p:spPr>
          <a:xfrm>
            <a:off x="919314" y="1223639"/>
            <a:ext cx="9961019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/>
              <a:t>Tool/Function Calling – </a:t>
            </a:r>
          </a:p>
          <a:p>
            <a:pPr algn="ctr"/>
            <a:r>
              <a:rPr lang="en-GB" sz="3200" b="1" dirty="0"/>
              <a:t>adding more context/info on demand</a:t>
            </a:r>
            <a:endParaRPr lang="en-GB" sz="4400" b="1" dirty="0"/>
          </a:p>
        </p:txBody>
      </p:sp>
    </p:spTree>
    <p:extLst>
      <p:ext uri="{BB962C8B-B14F-4D97-AF65-F5344CB8AC3E}">
        <p14:creationId xmlns:p14="http://schemas.microsoft.com/office/powerpoint/2010/main" val="7118143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1A3AD7-012D-83EA-2CB2-072646D141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BF49D9-BE82-BB4F-0187-B6AD05A11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761442-8ED6-7227-DC19-D4B84CE7FD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C9B272DD-453C-DCB6-C6E6-F276D7BBC4E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27408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5D8DA7F-B1D8-D9A8-D01C-792B793264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CC8CA-586F-74A1-8AC1-C7EAB2F20E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Reflection Pattern - looping</a:t>
            </a:r>
          </a:p>
        </p:txBody>
      </p:sp>
      <p:pic>
        <p:nvPicPr>
          <p:cNvPr id="6" name="Picture 5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21DC5963-DA47-441B-EF1E-4528AC981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73542" y="1155517"/>
            <a:ext cx="9799144" cy="55120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843705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706A409-CD5D-787F-47D9-2B37325FD6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367E17-64B8-2918-293D-E44B666579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Tool/Function calling?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8751D3F2-C087-2A51-5678-B254435160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2496107" y="1232102"/>
            <a:ext cx="5884693" cy="5625897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41290786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617A34F-8566-1D43-1E1A-5B374E471E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D0901-41B6-AC57-6A2C-EAD6E956F5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>
                <a:solidFill>
                  <a:srgbClr val="676767"/>
                </a:solidFill>
              </a:rPr>
              <a:t>What is Tool/Function calling?</a:t>
            </a:r>
            <a:endParaRPr lang="en-GB" dirty="0">
              <a:solidFill>
                <a:srgbClr val="676767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A7566-C431-C15B-B505-DA5242F183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our INSTRUCTIONS we can add:</a:t>
            </a:r>
            <a:endParaRPr lang="en-GB" sz="1200" dirty="0"/>
          </a:p>
          <a:p>
            <a:r>
              <a:rPr lang="en-GB" dirty="0"/>
              <a:t>Here are some useful tools/functions that may be of help at run time. </a:t>
            </a:r>
          </a:p>
          <a:p>
            <a:r>
              <a:rPr lang="en-GB" dirty="0"/>
              <a:t>Let me know which you want to run and with what arguments.</a:t>
            </a:r>
          </a:p>
          <a:p>
            <a:r>
              <a:rPr lang="en-GB" dirty="0"/>
              <a:t>I will run them on my machine and then send this extra CONTEXT back to you (reflection – see image)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03.1_prompt.md </a:t>
            </a:r>
            <a:r>
              <a:rPr lang="en-GB" dirty="0"/>
              <a:t>has the prompt</a:t>
            </a:r>
          </a:p>
          <a:p>
            <a:r>
              <a:rPr lang="en-GB" sz="3600" dirty="0">
                <a:latin typeface="Consolas" panose="020B0609020204030204" pitchFamily="49" charset="0"/>
              </a:rPr>
              <a:t>03.2_demo_tool_calling.py</a:t>
            </a:r>
          </a:p>
          <a:p>
            <a:endParaRPr lang="en-GB" dirty="0"/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 descr="A diagram of a reflection process&#10;&#10;AI-generated content may be incorrect.">
            <a:extLst>
              <a:ext uri="{FF2B5EF4-FFF2-40B4-BE49-F238E27FC236}">
                <a16:creationId xmlns:a16="http://schemas.microsoft.com/office/drawing/2014/main" id="{979432B5-419A-E653-E633-F2870B5CA6C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07729" y="3769799"/>
            <a:ext cx="4385353" cy="24667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56473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BDD4CA3-416B-C283-625F-3094FCF7B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49787B-41EB-74C8-0FA3-73B9904139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Another example of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F50581-7FC6-B33E-36A1-393EB16F2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We ask Agent to write some code for us, then pass the response to a critique and the </a:t>
            </a:r>
            <a:r>
              <a:rPr lang="en-GB"/>
              <a:t>response from that to a </a:t>
            </a:r>
            <a:r>
              <a:rPr lang="en-GB" dirty="0"/>
              <a:t>final one to combine the two.</a:t>
            </a:r>
          </a:p>
          <a:p>
            <a:endParaRPr lang="en-GB" sz="1100" dirty="0"/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“Generate a Python implementation of imputing missing values in a Pandas DataFrame with the mean of the column.</a:t>
            </a: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Ensure there are plenty of comments explaining the code.”</a:t>
            </a:r>
          </a:p>
          <a:p>
            <a:pPr marL="0" indent="0">
              <a:buNone/>
            </a:pPr>
            <a:endParaRPr lang="en-GB" sz="1400" dirty="0">
              <a:solidFill>
                <a:srgbClr val="7030A0"/>
              </a:solidFill>
            </a:endParaRP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04_demo_reflection.ipynb -&gt; three files: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04.1_code.md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04.2_critique.md</a:t>
            </a:r>
          </a:p>
          <a:p>
            <a:pPr marL="0" indent="0">
              <a:buNone/>
            </a:pPr>
            <a:r>
              <a:rPr lang="en-GB" dirty="0">
                <a:latin typeface="Consolas" panose="020B0609020204030204" pitchFamily="49" charset="0"/>
              </a:rPr>
              <a:t>04.3_final.md</a:t>
            </a: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7030A0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5144589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A6583BB-A0FB-CF49-992D-EACA12E9D3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03D57F-D071-1261-777E-70463D0AF6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75599F-F9E0-56D0-48D6-18BF3922D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have seen how we can write tools for the Agent to discover and call as needed.</a:t>
            </a:r>
          </a:p>
          <a:p>
            <a:pPr marL="0" indent="0">
              <a:buNone/>
            </a:pPr>
            <a:r>
              <a:rPr lang="en-GB" dirty="0"/>
              <a:t>What about tools others have created?</a:t>
            </a:r>
          </a:p>
          <a:p>
            <a:pPr marL="0" indent="0">
              <a:buNone/>
            </a:pPr>
            <a:r>
              <a:rPr lang="en-GB" dirty="0"/>
              <a:t>How can an Agent discover what tools are available, how to use them with what ever arguments are needed and how to execute them? (</a:t>
            </a:r>
            <a:r>
              <a:rPr lang="en-GB" i="1" dirty="0"/>
              <a:t>like when we go to PyPi to get libraries</a:t>
            </a:r>
            <a:r>
              <a:rPr lang="en-GB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35260067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D84E474-D647-6DB6-0542-FC92842AB7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CDD91B-7760-91E6-A95F-88CC86DAC7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6C7C6C-DEE9-69D0-4D7C-9C46D6DDB1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This is the Model Context Protocol for Agents to be able to do this.</a:t>
            </a:r>
          </a:p>
          <a:p>
            <a:pPr marL="0" indent="0">
              <a:buNone/>
            </a:pPr>
            <a:r>
              <a:rPr lang="en-GB" dirty="0"/>
              <a:t>In essence, an Agent can find a list of tools we have given it, with these tools able to inform an Agent what they are and how to use them.</a:t>
            </a:r>
          </a:p>
          <a:p>
            <a:pPr marL="0" indent="0">
              <a:buNone/>
            </a:pPr>
            <a:r>
              <a:rPr lang="en-GB" dirty="0"/>
              <a:t>The Agent runs the </a:t>
            </a:r>
            <a:r>
              <a:rPr lang="en-GB" dirty="0" err="1"/>
              <a:t>pipx</a:t>
            </a:r>
            <a:r>
              <a:rPr lang="en-GB" dirty="0"/>
              <a:t> to download and run them in a separate process.</a:t>
            </a:r>
          </a:p>
        </p:txBody>
      </p:sp>
    </p:spTree>
    <p:extLst>
      <p:ext uri="{BB962C8B-B14F-4D97-AF65-F5344CB8AC3E}">
        <p14:creationId xmlns:p14="http://schemas.microsoft.com/office/powerpoint/2010/main" val="395156019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74270F-3730-D8EC-80AE-6AB810CE18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C2862-C9B2-5098-C585-45CF1B16E5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E5C5C0-7B1A-D091-87A8-B733154B66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The Langchain SQL Agent is something we can code in deterministically into an app but how would an Agent decide whether to use it and how to use it?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MCP enables an Agent to get a list of tools available by the MCP Server and how to use the tools.</a:t>
            </a:r>
          </a:p>
          <a:p>
            <a:pPr marL="0" indent="0">
              <a:buNone/>
            </a:pPr>
            <a:endParaRPr lang="en-GB" sz="1100" dirty="0"/>
          </a:p>
          <a:p>
            <a:pPr marL="0" indent="0">
              <a:buNone/>
            </a:pPr>
            <a:r>
              <a:rPr lang="en-GB" dirty="0"/>
              <a:t>An Agent can then decide whether to use these tools to create more context for further prompts.</a:t>
            </a:r>
          </a:p>
        </p:txBody>
      </p:sp>
    </p:spTree>
    <p:extLst>
      <p:ext uri="{BB962C8B-B14F-4D97-AF65-F5344CB8AC3E}">
        <p14:creationId xmlns:p14="http://schemas.microsoft.com/office/powerpoint/2010/main" val="33943017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6F8CBC-7BA2-7523-FFA8-80E5C3BF6E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4CE1D-7D12-57D7-A5B7-3FE552865D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Model Context Protocol (MCP)?</a:t>
            </a:r>
          </a:p>
        </p:txBody>
      </p:sp>
      <p:pic>
        <p:nvPicPr>
          <p:cNvPr id="5" name="Content Placeholder 4" descr="A screen shot of a computer&#10;&#10;AI-generated content may be incorrect.">
            <a:hlinkClick r:id="rId2"/>
            <a:extLst>
              <a:ext uri="{FF2B5EF4-FFF2-40B4-BE49-F238E27FC236}">
                <a16:creationId xmlns:a16="http://schemas.microsoft.com/office/drawing/2014/main" id="{2DE882C9-519D-BBB5-68FE-B5255690F3C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954" y="1250062"/>
            <a:ext cx="9416091" cy="4575217"/>
          </a:xfrm>
          <a:solidFill>
            <a:srgbClr val="FAF0E6"/>
          </a:solidFill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27020CA-A612-8D52-607E-CEECD3753A24}"/>
              </a:ext>
            </a:extLst>
          </p:cNvPr>
          <p:cNvSpPr txBox="1"/>
          <p:nvPr/>
        </p:nvSpPr>
        <p:spPr>
          <a:xfrm>
            <a:off x="1387952" y="5936143"/>
            <a:ext cx="9416091" cy="8002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dirty="0">
                <a:hlinkClick r:id="rId2"/>
              </a:rPr>
              <a:t>https://mcpservers.org/servers/modelcontextprotocol/fetch</a:t>
            </a:r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808132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134FBD2-643E-E5A9-8BF2-FB3612599A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934512-7B25-E453-E16C-FF65441E2C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What is the Agent2Agent Protocol (A2A)?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B5311C-1016-A0EE-6E12-DD296E243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 complimentary protocol to allow one Agent to discover and understand what another Agent does.</a:t>
            </a:r>
          </a:p>
          <a:p>
            <a:pPr marL="0" indent="0">
              <a:buNone/>
            </a:pPr>
            <a:r>
              <a:rPr lang="en-GB" dirty="0"/>
              <a:t>It can then hand off work to the other Agent to get a desired response.</a:t>
            </a:r>
          </a:p>
          <a:p>
            <a:pPr marL="0" indent="0">
              <a:buNone/>
            </a:pPr>
            <a:r>
              <a:rPr lang="en-GB" dirty="0"/>
              <a:t>It might seem that tools, MCP, A2A are all similar!</a:t>
            </a:r>
          </a:p>
          <a:p>
            <a:pPr marL="0" indent="0">
              <a:buNone/>
            </a:pPr>
            <a:r>
              <a:rPr lang="en-GB" dirty="0"/>
              <a:t>At the end of the day Python is variables and code…all objects and essentially variations on functions.</a:t>
            </a:r>
          </a:p>
          <a:p>
            <a:pPr marL="0" indent="0">
              <a:buNone/>
            </a:pPr>
            <a:r>
              <a:rPr lang="en-GB" dirty="0"/>
              <a:t>Protocols, like HTTP for example, are implementations to enable communication between bits of code.</a:t>
            </a:r>
          </a:p>
          <a:p>
            <a:pPr marL="0" indent="0">
              <a:buNone/>
            </a:pPr>
            <a:r>
              <a:rPr lang="en-GB" i="1" dirty="0"/>
              <a:t>Next…an example from Google…</a:t>
            </a:r>
          </a:p>
        </p:txBody>
      </p:sp>
    </p:spTree>
    <p:extLst>
      <p:ext uri="{BB962C8B-B14F-4D97-AF65-F5344CB8AC3E}">
        <p14:creationId xmlns:p14="http://schemas.microsoft.com/office/powerpoint/2010/main" val="2253881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AA440AF-DD92-7905-6BC8-EE77381BAE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15E1A2-83B2-14F0-BFEA-861422733F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(1)</a:t>
            </a:r>
          </a:p>
        </p:txBody>
      </p:sp>
      <p:pic>
        <p:nvPicPr>
          <p:cNvPr id="5" name="Content Placeholder 4" descr="A diagram of a business&#10;&#10;AI-generated content may be incorrect.">
            <a:extLst>
              <a:ext uri="{FF2B5EF4-FFF2-40B4-BE49-F238E27FC236}">
                <a16:creationId xmlns:a16="http://schemas.microsoft.com/office/drawing/2014/main" id="{35C7062D-4D91-6909-2AFE-1BD94FA2B19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832" y="1421289"/>
            <a:ext cx="10596563" cy="4870469"/>
          </a:xfrm>
          <a:solidFill>
            <a:srgbClr val="FAF0E6"/>
          </a:solidFill>
        </p:spPr>
      </p:pic>
    </p:spTree>
    <p:extLst>
      <p:ext uri="{BB962C8B-B14F-4D97-AF65-F5344CB8AC3E}">
        <p14:creationId xmlns:p14="http://schemas.microsoft.com/office/powerpoint/2010/main" val="327987128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B0030CE-F294-86B3-6F10-3AB61987F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screenshot of a computer&#10;&#10;AI-generated content may be incorrect.">
            <a:extLst>
              <a:ext uri="{FF2B5EF4-FFF2-40B4-BE49-F238E27FC236}">
                <a16:creationId xmlns:a16="http://schemas.microsoft.com/office/drawing/2014/main" id="{EF3853CA-F183-DF85-201B-ED2AB55C46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2929" y="1969851"/>
            <a:ext cx="4972442" cy="416547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60345D98-D59A-10E5-7C50-C924EE8885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Google CRM Agent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A58150-C7BB-C968-2A62-2A3812D748E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1516027"/>
            <a:ext cx="10515600" cy="4351338"/>
          </a:xfrm>
        </p:spPr>
        <p:txBody>
          <a:bodyPr/>
          <a:lstStyle/>
          <a:p>
            <a:r>
              <a:rPr lang="en-GB" sz="1600" dirty="0">
                <a:hlinkClick r:id="rId3"/>
              </a:rPr>
              <a:t>https://github.com/vladkol/crm-data-agent/blob/main/src/agents/data_agent/prompts/crm_business_analyst.py</a:t>
            </a:r>
            <a:endParaRPr lang="en-GB" sz="1600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We can learn a lot about best</a:t>
            </a:r>
          </a:p>
          <a:p>
            <a:pPr marL="0" indent="0">
              <a:buNone/>
            </a:pPr>
            <a:r>
              <a:rPr lang="en-GB" dirty="0"/>
              <a:t>practices for Context Engineering by </a:t>
            </a:r>
          </a:p>
          <a:p>
            <a:pPr marL="0" indent="0">
              <a:buNone/>
            </a:pPr>
            <a:r>
              <a:rPr lang="en-GB" dirty="0"/>
              <a:t>looking at big tech repos.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briefly look at:</a:t>
            </a:r>
          </a:p>
          <a:p>
            <a:pPr marL="0" indent="0">
              <a:buNone/>
            </a:pPr>
            <a:r>
              <a:rPr lang="en-GB" dirty="0"/>
              <a:t>06_demo_prompt_google_crm.md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83143050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86C0DD9-54D0-8094-782E-FC61A05AFDE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9AD40-FA5F-10FF-8715-DCEC72D39F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(1)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FAB0A6-D1CF-DAFA-F9DD-82A1E0998A4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9314" y="2584285"/>
            <a:ext cx="10596715" cy="2316488"/>
          </a:xfrm>
          <a:solidFill>
            <a:srgbClr val="FAF0E6"/>
          </a:solidFill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Using Cline to create a complete pipeline…in practice </a:t>
            </a:r>
            <a:r>
              <a:rPr lang="en-GB" dirty="0" err="1"/>
              <a:t>devs</a:t>
            </a:r>
            <a:r>
              <a:rPr lang="en-GB" dirty="0"/>
              <a:t> do it bit by bit.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Let’s look at an example…</a:t>
            </a:r>
          </a:p>
        </p:txBody>
      </p:sp>
    </p:spTree>
    <p:extLst>
      <p:ext uri="{BB962C8B-B14F-4D97-AF65-F5344CB8AC3E}">
        <p14:creationId xmlns:p14="http://schemas.microsoft.com/office/powerpoint/2010/main" val="39017585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B79118-841B-F42B-B854-886D9D8F1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50BE5E-7827-40D5-0232-6BCA156E0B2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A complete demo (2)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1F56F5-9707-600C-AB09-0FA01DFE21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01507" y="1351386"/>
            <a:ext cx="9519229" cy="4967221"/>
          </a:xfrm>
          <a:solidFill>
            <a:srgbClr val="FAF0E6"/>
          </a:solidFill>
        </p:spPr>
        <p:txBody>
          <a:bodyPr>
            <a:normAutofit fontScale="40000" lnSpcReduction="20000"/>
          </a:bodyPr>
          <a:lstStyle/>
          <a:p>
            <a:pPr marL="0" indent="0">
              <a:buNone/>
            </a:pPr>
            <a:r>
              <a:rPr lang="en-GB" dirty="0"/>
              <a:t>]</a:t>
            </a:r>
            <a:endParaRPr lang="en-GB" sz="4400" dirty="0"/>
          </a:p>
          <a:p>
            <a:pPr marL="0" indent="0">
              <a:buNone/>
            </a:pPr>
            <a:r>
              <a:rPr lang="en-GB" sz="9000" b="1" dirty="0"/>
              <a:t>CLINE</a:t>
            </a:r>
            <a:r>
              <a:rPr lang="en-GB" sz="7000" b="1" dirty="0"/>
              <a:t>:</a:t>
            </a:r>
          </a:p>
          <a:p>
            <a:pPr marL="0" indent="0">
              <a:buNone/>
            </a:pPr>
            <a:r>
              <a:rPr lang="en-GB" sz="8000" dirty="0"/>
              <a:t>“I have a CSV for some sales data. </a:t>
            </a:r>
          </a:p>
          <a:p>
            <a:pPr marL="0" indent="0">
              <a:buNone/>
            </a:pPr>
            <a:r>
              <a:rPr lang="en-GB" sz="8000" dirty="0"/>
              <a:t>I have attached a sample 5 rows.</a:t>
            </a:r>
          </a:p>
          <a:p>
            <a:pPr marL="0" indent="0">
              <a:buNone/>
            </a:pPr>
            <a:r>
              <a:rPr lang="en-GB" sz="8000" dirty="0"/>
              <a:t>Make a simple ETL and data analysis </a:t>
            </a:r>
          </a:p>
          <a:p>
            <a:pPr marL="0" indent="0">
              <a:buNone/>
            </a:pPr>
            <a:r>
              <a:rPr lang="en-GB" sz="8000" dirty="0"/>
              <a:t>programme for it to show plots and graphs.”</a:t>
            </a:r>
          </a:p>
          <a:p>
            <a:pPr marL="0" indent="0">
              <a:buNone/>
            </a:pPr>
            <a:endParaRPr lang="en-GB" sz="2300" dirty="0"/>
          </a:p>
          <a:p>
            <a:pPr marL="0" indent="0">
              <a:buNone/>
            </a:pPr>
            <a:r>
              <a:rPr lang="en-GB" sz="9000" b="1" dirty="0"/>
              <a:t>IN DEMO:  </a:t>
            </a:r>
            <a:r>
              <a:rPr lang="en-GB" sz="8000" dirty="0"/>
              <a:t>I will add…</a:t>
            </a:r>
          </a:p>
          <a:p>
            <a:pPr marL="0" indent="0">
              <a:buNone/>
            </a:pPr>
            <a:r>
              <a:rPr lang="en-GB" sz="8000" dirty="0"/>
              <a:t>[“There is already a folder called `sales_etl_analysis` - please ignore and start afresh”]</a:t>
            </a:r>
          </a:p>
          <a:p>
            <a:pPr marL="0" indent="0">
              <a:buNone/>
            </a:pPr>
            <a:r>
              <a:rPr lang="en-GB" sz="8000" dirty="0"/>
              <a:t>There are two previous examples in the repo…</a:t>
            </a:r>
            <a:endParaRPr lang="en-GB" sz="7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  <a:p>
            <a:pPr marL="0" indent="0">
              <a:buNone/>
            </a:pPr>
            <a:endParaRPr lang="en-GB" sz="8000" dirty="0"/>
          </a:p>
        </p:txBody>
      </p:sp>
      <p:pic>
        <p:nvPicPr>
          <p:cNvPr id="9" name="Picture 8" descr="A screen shot of a computer&#10;&#10;AI-generated content may be incorrect.">
            <a:extLst>
              <a:ext uri="{FF2B5EF4-FFF2-40B4-BE49-F238E27FC236}">
                <a16:creationId xmlns:a16="http://schemas.microsoft.com/office/drawing/2014/main" id="{B0487DA1-EF18-FF08-5FAB-D218076E36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51177" y="107778"/>
            <a:ext cx="5140823" cy="30129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238988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AF0E6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2C2438-6F39-1E74-B87F-C7E70AB4DA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E93777-B841-1FE9-B5E3-7E294CD7B9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9314" y="190464"/>
            <a:ext cx="10515600" cy="1325563"/>
          </a:xfrm>
        </p:spPr>
        <p:txBody>
          <a:bodyPr/>
          <a:lstStyle/>
          <a:p>
            <a:r>
              <a:rPr lang="en-GB" dirty="0">
                <a:solidFill>
                  <a:srgbClr val="676767"/>
                </a:solidFill>
              </a:rPr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1FB872-4B2A-7D41-78EA-741C258663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413031"/>
            <a:ext cx="10596715" cy="4906652"/>
          </a:xfrm>
          <a:solidFill>
            <a:srgbClr val="FAF0E6"/>
          </a:solidFill>
        </p:spPr>
        <p:txBody>
          <a:bodyPr>
            <a:normAutofit/>
          </a:bodyPr>
          <a:lstStyle/>
          <a:p>
            <a:r>
              <a:rPr lang="en-GB" dirty="0"/>
              <a:t>It has been 3 years since ChatGPT was released.</a:t>
            </a:r>
          </a:p>
          <a:p>
            <a:r>
              <a:rPr lang="en-GB" dirty="0"/>
              <a:t>The 6 months from arranging this talk to doing it is a very long time in AI with great changes in that time.</a:t>
            </a:r>
          </a:p>
          <a:p>
            <a:r>
              <a:rPr lang="en-GB" dirty="0"/>
              <a:t>The next 6 months/1 year/2 years?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Craig West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https://craig-west.netlify.app/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https://evaluating-ai-agents.com/</a:t>
            </a:r>
          </a:p>
          <a:p>
            <a:pPr marL="0" indent="0">
              <a:buNone/>
            </a:pPr>
            <a:r>
              <a:rPr lang="en-GB" dirty="0">
                <a:solidFill>
                  <a:srgbClr val="3A3A3A"/>
                </a:solidFill>
              </a:rPr>
              <a:t>https://github.com/Python-Test-Engineer/earl2025</a:t>
            </a: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>
              <a:solidFill>
                <a:srgbClr val="3A3A3A"/>
              </a:solidFill>
            </a:endParaRPr>
          </a:p>
          <a:p>
            <a:pPr marL="0" indent="0">
              <a:buNone/>
            </a:pPr>
            <a:endParaRPr lang="en-GB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2A3B412-5155-7A47-ABCA-B084173F68C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8712402" y="2545147"/>
            <a:ext cx="3215895" cy="321589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47646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242</TotalTime>
  <Words>1530</Words>
  <Application>Microsoft Office PowerPoint</Application>
  <PresentationFormat>Widescreen</PresentationFormat>
  <Paragraphs>171</Paragraphs>
  <Slides>32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Aptos</vt:lpstr>
      <vt:lpstr>Aptos Display</vt:lpstr>
      <vt:lpstr>Arial</vt:lpstr>
      <vt:lpstr>Consolas</vt:lpstr>
      <vt:lpstr>Office Theme</vt:lpstr>
      <vt:lpstr>AI Agents in the Data Pipeline</vt:lpstr>
      <vt:lpstr>About me</vt:lpstr>
      <vt:lpstr>Desired Outcomes</vt:lpstr>
      <vt:lpstr>Raw code implementation of an Agent</vt:lpstr>
      <vt:lpstr>Raw code implementation of an Agent</vt:lpstr>
      <vt:lpstr>PowerPoint Presentation</vt:lpstr>
      <vt:lpstr>Agenda </vt:lpstr>
      <vt:lpstr>Model costs</vt:lpstr>
      <vt:lpstr>What is an AI Agent?</vt:lpstr>
      <vt:lpstr>Using email as an example/ChatGPT</vt:lpstr>
      <vt:lpstr>Raw code implementation of an Agent</vt:lpstr>
      <vt:lpstr>PowerPoint Presentation</vt:lpstr>
      <vt:lpstr>PowerPoint Presentation</vt:lpstr>
      <vt:lpstr>Prompt Engineering</vt:lpstr>
      <vt:lpstr>Context Engineering</vt:lpstr>
      <vt:lpstr>Supplying more Context (information)</vt:lpstr>
      <vt:lpstr>What is Tool/Function calling? </vt:lpstr>
      <vt:lpstr>What is Tool/Function calling?</vt:lpstr>
      <vt:lpstr>Reflection Pattern - looping</vt:lpstr>
      <vt:lpstr>What is Tool/Function calling?</vt:lpstr>
      <vt:lpstr>What is Tool/Function calling?</vt:lpstr>
      <vt:lpstr>Another example of reflection</vt:lpstr>
      <vt:lpstr>What is the Model Context Protocol (MCP)?</vt:lpstr>
      <vt:lpstr>What is the Model Context Protocol (MCP)?</vt:lpstr>
      <vt:lpstr>What is the Model Context Protocol (MCP)?</vt:lpstr>
      <vt:lpstr>What is the Model Context Protocol (MCP)?</vt:lpstr>
      <vt:lpstr>What is the Agent2Agent Protocol (A2A)?</vt:lpstr>
      <vt:lpstr>Google CRM Agent (1)</vt:lpstr>
      <vt:lpstr>Google CRM Agent (2)</vt:lpstr>
      <vt:lpstr>A complete demo (1)</vt:lpstr>
      <vt:lpstr>A complete demo (2)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Craig West</dc:creator>
  <cp:lastModifiedBy>Craig West</cp:lastModifiedBy>
  <cp:revision>115</cp:revision>
  <dcterms:created xsi:type="dcterms:W3CDTF">2025-08-05T17:00:53Z</dcterms:created>
  <dcterms:modified xsi:type="dcterms:W3CDTF">2025-10-15T05:53:41Z</dcterms:modified>
</cp:coreProperties>
</file>