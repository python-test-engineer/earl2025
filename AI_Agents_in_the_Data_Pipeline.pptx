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75" r:id="rId4"/>
    <p:sldId id="291" r:id="rId5"/>
    <p:sldId id="261" r:id="rId6"/>
    <p:sldId id="260" r:id="rId7"/>
    <p:sldId id="288" r:id="rId8"/>
    <p:sldId id="263" r:id="rId9"/>
    <p:sldId id="282" r:id="rId10"/>
    <p:sldId id="273" r:id="rId11"/>
    <p:sldId id="283" r:id="rId12"/>
    <p:sldId id="290" r:id="rId13"/>
    <p:sldId id="284" r:id="rId14"/>
    <p:sldId id="285" r:id="rId15"/>
    <p:sldId id="265" r:id="rId16"/>
    <p:sldId id="287" r:id="rId17"/>
    <p:sldId id="276" r:id="rId18"/>
    <p:sldId id="289" r:id="rId19"/>
    <p:sldId id="267" r:id="rId20"/>
    <p:sldId id="279" r:id="rId21"/>
    <p:sldId id="277" r:id="rId22"/>
    <p:sldId id="280" r:id="rId23"/>
    <p:sldId id="281" r:id="rId24"/>
    <p:sldId id="268" r:id="rId25"/>
    <p:sldId id="278" r:id="rId26"/>
    <p:sldId id="27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27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3A3A3A"/>
                </a:solidFill>
              </a:rPr>
              <a:t>This also contains links to a video of the BrighonPy talk/workshop on </a:t>
            </a:r>
          </a:p>
          <a:p>
            <a:pPr marL="0" indent="0">
              <a:buNone/>
            </a:pPr>
            <a:r>
              <a:rPr lang="en-GB" sz="1800" b="1" dirty="0">
                <a:solidFill>
                  <a:srgbClr val="3A3A3A"/>
                </a:solidFill>
              </a:rPr>
              <a:t>‘AI as API’ </a:t>
            </a:r>
            <a:r>
              <a:rPr lang="en-GB" sz="1800" dirty="0">
                <a:solidFill>
                  <a:srgbClr val="3A3A3A"/>
                </a:solidFill>
              </a:rPr>
              <a:t>and the repo for the PyData Southampton Meetup </a:t>
            </a:r>
            <a:r>
              <a:rPr lang="en-GB" sz="1800" b="1" dirty="0">
                <a:solidFill>
                  <a:srgbClr val="3A3A3A"/>
                </a:solidFill>
              </a:rPr>
              <a:t>‘AI Agents in </a:t>
            </a:r>
          </a:p>
          <a:p>
            <a:pPr marL="0" indent="0">
              <a:buNone/>
            </a:pPr>
            <a:r>
              <a:rPr lang="en-GB" sz="1800" b="1" dirty="0">
                <a:solidFill>
                  <a:srgbClr val="3A3A3A"/>
                </a:solidFill>
              </a:rPr>
              <a:t>The Data Pipeline’ </a:t>
            </a:r>
            <a:r>
              <a:rPr lang="en-GB" sz="18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92496" y="3677264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</a:t>
            </a:r>
          </a:p>
          <a:p>
            <a:pPr marL="0" indent="0">
              <a:buNone/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55B19-D2F6-8058-89EC-D3ADC6419387}"/>
              </a:ext>
            </a:extLst>
          </p:cNvPr>
          <p:cNvSpPr txBox="1"/>
          <p:nvPr/>
        </p:nvSpPr>
        <p:spPr>
          <a:xfrm>
            <a:off x="7654247" y="3770616"/>
            <a:ext cx="378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Models have become increasingly more capable and ‘intelligent’.</a:t>
            </a:r>
          </a:p>
        </p:txBody>
      </p:sp>
    </p:spTree>
    <p:extLst>
      <p:ext uri="{BB962C8B-B14F-4D97-AF65-F5344CB8AC3E}">
        <p14:creationId xmlns:p14="http://schemas.microsoft.com/office/powerpoint/2010/main" val="975252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Tool/Function calling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27D35A-679B-5D25-0499-0D916F1FC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B9B67-651D-2392-DB3C-75C209C3F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41A9-B252-F37E-2C82-4F8D8F3C0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Image Analysis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Agents that write code to carry out ETL, Data Analysis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MCP – Model Context Protocol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A2A – Agent to Agent protocol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Full demo using Cline in VSCode to create full app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203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6708" y="1049967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6311" y="3440898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9EC48-3CA3-2F82-140E-A68CF605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31C23-0F5B-6002-821F-7DF71C36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Using email as an aid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6402C1-B29A-A4FD-F444-AF3C8F2B09D3}"/>
              </a:ext>
            </a:extLst>
          </p:cNvPr>
          <p:cNvSpPr txBox="1"/>
          <p:nvPr/>
        </p:nvSpPr>
        <p:spPr>
          <a:xfrm>
            <a:off x="919314" y="1921267"/>
            <a:ext cx="996101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use the example of an email. We use HTTP POST to send the message to a SINGLE endpoint</a:t>
            </a:r>
          </a:p>
          <a:p>
            <a:endParaRPr lang="en-GB" sz="3200" dirty="0"/>
          </a:p>
          <a:p>
            <a:r>
              <a:rPr lang="en-GB" sz="3200" dirty="0"/>
              <a:t>Payload of instructions and context (info) that we send for the end user to process for us and return a response.</a:t>
            </a:r>
          </a:p>
          <a:p>
            <a:endParaRPr lang="en-GB" sz="3200" dirty="0"/>
          </a:p>
          <a:p>
            <a:r>
              <a:rPr lang="en-GB" sz="3200" dirty="0"/>
              <a:t>An LLM call in an Agent is similar…</a:t>
            </a:r>
          </a:p>
        </p:txBody>
      </p:sp>
    </p:spTree>
    <p:extLst>
      <p:ext uri="{BB962C8B-B14F-4D97-AF65-F5344CB8AC3E}">
        <p14:creationId xmlns:p14="http://schemas.microsoft.com/office/powerpoint/2010/main" val="1250786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3E06EB-B068-8B1E-DAD0-22AA8B73F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516027"/>
            <a:ext cx="10169976" cy="25544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D56192-ABBE-2091-88D5-4A8E317C0F2D}"/>
              </a:ext>
            </a:extLst>
          </p:cNvPr>
          <p:cNvSpPr txBox="1"/>
          <p:nvPr/>
        </p:nvSpPr>
        <p:spPr>
          <a:xfrm>
            <a:off x="919314" y="4530903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look at </a:t>
            </a:r>
            <a:r>
              <a:rPr lang="en-GB" sz="3200" dirty="0">
                <a:latin typeface="Consolas" panose="020B0609020204030204" pitchFamily="49" charset="0"/>
              </a:rPr>
              <a:t>01_raw_post_request.py </a:t>
            </a:r>
            <a:r>
              <a:rPr lang="en-GB" sz="3200" dirty="0"/>
              <a:t>in the repo…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Prompt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921267"/>
            <a:ext cx="996101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in 100 words</a:t>
            </a:r>
            <a:r>
              <a:rPr lang="en-GB" sz="3200" dirty="0">
                <a:solidFill>
                  <a:srgbClr val="3A3A3A"/>
                </a:solidFill>
              </a:rPr>
              <a:t>…” 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“I need more info…” 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868BA-1FA8-EBCC-86D9-3ACBD725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8864-E449-91BB-7CCA-430EEEA7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Context Engineering</a:t>
            </a:r>
          </a:p>
        </p:txBody>
      </p:sp>
      <p:pic>
        <p:nvPicPr>
          <p:cNvPr id="6" name="Picture 5" descr="A close-up of a website&#10;&#10;AI-generated content may be incorrect.">
            <a:extLst>
              <a:ext uri="{FF2B5EF4-FFF2-40B4-BE49-F238E27FC236}">
                <a16:creationId xmlns:a16="http://schemas.microsoft.com/office/drawing/2014/main" id="{7B403DEF-8780-7F55-25B4-2FB3830C9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52" y="1762607"/>
            <a:ext cx="10455151" cy="36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92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Supplying more Context (info)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and </a:t>
            </a:r>
            <a:r>
              <a:rPr lang="en-GB" sz="3200" i="1" dirty="0">
                <a:solidFill>
                  <a:schemeClr val="accent5">
                    <a:lumMod val="75000"/>
                  </a:schemeClr>
                </a:solidFill>
              </a:rPr>
              <a:t>here is some data from our company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</a:t>
            </a:r>
            <a:r>
              <a:rPr lang="en-GB">
                <a:solidFill>
                  <a:srgbClr val="676767"/>
                </a:solidFill>
              </a:rPr>
              <a:t>? 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4" y="1320818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rgbClr val="7030A0"/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rgbClr val="7030A0"/>
              </a:solidFill>
            </a:endParaRPr>
          </a:p>
          <a:p>
            <a:r>
              <a:rPr lang="en-GB" sz="3200" dirty="0">
                <a:solidFill>
                  <a:srgbClr val="7030A0"/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adding more context/info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372A0-C6B5-A8B9-B155-73E894AB4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E7C49-E989-DCE9-C58C-D01FC91F9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 descr="A diagram of a tool&#10;&#10;AI-generated content may be incorrect.">
            <a:extLst>
              <a:ext uri="{FF2B5EF4-FFF2-40B4-BE49-F238E27FC236}">
                <a16:creationId xmlns:a16="http://schemas.microsoft.com/office/drawing/2014/main" id="{C4644611-2EC0-EC80-0CD0-9F952C9353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402" y="1234853"/>
            <a:ext cx="9420256" cy="527633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277511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another to critique it and then a 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dirty="0"/>
              <a:t>What about tools others have created?</a:t>
            </a:r>
          </a:p>
          <a:p>
            <a:pPr marL="0" indent="0">
              <a:buNone/>
            </a:pPr>
            <a:r>
              <a:rPr lang="en-GB" dirty="0"/>
              <a:t>How can an Agent discover what tools are available, how to use them with what ever arguments are needed and how to execute them? (</a:t>
            </a:r>
            <a:r>
              <a:rPr lang="en-GB" i="1" dirty="0"/>
              <a:t>like when we go to PyPi to get libraries</a:t>
            </a:r>
            <a:r>
              <a:rPr lang="en-GB" dirty="0"/>
              <a:t>)</a:t>
            </a:r>
          </a:p>
          <a:p>
            <a:pPr marL="0" indent="0">
              <a:buNone/>
            </a:pPr>
            <a:r>
              <a:rPr lang="en-GB" dirty="0"/>
              <a:t>This is the Model Context Protocol for Agents to be able to do this.</a:t>
            </a:r>
          </a:p>
          <a:p>
            <a:pPr marL="0" indent="0">
              <a:buNone/>
            </a:pPr>
            <a:r>
              <a:rPr lang="en-GB" dirty="0"/>
              <a:t>In essence, an Agent can find a list of tools we have given it, with these tools able to inform an Agent what they are and how to use them.</a:t>
            </a:r>
          </a:p>
          <a:p>
            <a:pPr marL="0" indent="0">
              <a:buNone/>
            </a:pPr>
            <a:r>
              <a:rPr lang="en-GB" dirty="0"/>
              <a:t>The Agent runs the </a:t>
            </a:r>
            <a:r>
              <a:rPr lang="en-GB" dirty="0" err="1"/>
              <a:t>pipx</a:t>
            </a:r>
            <a:r>
              <a:rPr lang="en-GB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4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2584285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Using Cline to create a complete pipeline…in practice </a:t>
            </a:r>
            <a:r>
              <a:rPr lang="en-GB" dirty="0" err="1"/>
              <a:t>devs</a:t>
            </a:r>
            <a:r>
              <a:rPr lang="en-GB" dirty="0"/>
              <a:t> do it bit by bit.</a:t>
            </a:r>
          </a:p>
          <a:p>
            <a:pPr marL="0" indent="0">
              <a:buNone/>
            </a:pPr>
            <a:r>
              <a:rPr lang="en-GB" dirty="0"/>
              <a:t>Let’s look at an example…</a:t>
            </a:r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B79118-841B-F42B-B854-886D9D8F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0BE5E-7827-40D5-0232-6BCA156E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56F5-9707-600C-AB09-0FA01DFE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1507" y="1351387"/>
            <a:ext cx="10596715" cy="2717179"/>
          </a:xfrm>
          <a:solidFill>
            <a:srgbClr val="FAF0E6"/>
          </a:solidFill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GB" sz="11200" b="1" dirty="0"/>
              <a:t>CLAUDE</a:t>
            </a:r>
            <a:r>
              <a:rPr lang="en-GB" sz="9600" b="1" dirty="0"/>
              <a:t>: </a:t>
            </a:r>
          </a:p>
          <a:p>
            <a:pPr marL="0" indent="0">
              <a:buNone/>
            </a:pPr>
            <a:r>
              <a:rPr lang="en-GB" sz="7200" dirty="0"/>
              <a:t>create a simple sales csv with just 5 rows</a:t>
            </a:r>
          </a:p>
          <a:p>
            <a:pPr marL="0" indent="0">
              <a:buNone/>
            </a:pPr>
            <a:r>
              <a:rPr lang="en-GB" sz="7200" dirty="0" err="1"/>
              <a:t>sales_data</a:t>
            </a:r>
            <a:r>
              <a:rPr lang="en-GB" sz="7200" dirty="0"/>
              <a:t> = [</a:t>
            </a:r>
          </a:p>
          <a:p>
            <a:pPr marL="0" indent="0">
              <a:buNone/>
            </a:pPr>
            <a:r>
              <a:rPr lang="en-GB" sz="7200" dirty="0"/>
              <a:t>    ['Date', 'Product', 'Quantity', '</a:t>
            </a:r>
            <a:r>
              <a:rPr lang="en-GB" sz="7200" dirty="0" err="1"/>
              <a:t>Unit_Price</a:t>
            </a:r>
            <a:r>
              <a:rPr lang="en-GB" sz="7200" dirty="0"/>
              <a:t>', 'Total'],</a:t>
            </a:r>
          </a:p>
          <a:p>
            <a:pPr marL="0" indent="0">
              <a:buNone/>
            </a:pPr>
            <a:r>
              <a:rPr lang="en-GB" sz="7200" dirty="0"/>
              <a:t>    ['2024-01-15', 'Laptop', 2, 999.99, 1999.98],</a:t>
            </a:r>
          </a:p>
          <a:p>
            <a:pPr marL="0" indent="0">
              <a:buNone/>
            </a:pPr>
            <a:r>
              <a:rPr lang="en-GB" sz="7200" dirty="0"/>
              <a:t>    ['2024-01-16', 'Mouse', 5, 29.99, 149.95],</a:t>
            </a:r>
          </a:p>
          <a:p>
            <a:pPr marL="0" indent="0">
              <a:buNone/>
            </a:pPr>
            <a:r>
              <a:rPr lang="en-GB" sz="7200" dirty="0"/>
              <a:t>    ['2024-01-17', 'Keyboard', 3, 79.99, 239.97],</a:t>
            </a:r>
          </a:p>
          <a:p>
            <a:pPr marL="0" indent="0">
              <a:buNone/>
            </a:pPr>
            <a:r>
              <a:rPr lang="en-GB" sz="7200" dirty="0"/>
              <a:t>    ['2024-01-18', 'Monitor', 1, 299.99, 299.99],</a:t>
            </a:r>
          </a:p>
          <a:p>
            <a:pPr marL="0" indent="0">
              <a:buNone/>
            </a:pPr>
            <a:r>
              <a:rPr lang="en-GB" sz="7200" dirty="0"/>
              <a:t>    ['2024-01-19', 'Headphones', 4, 149.99, 599.96]</a:t>
            </a:r>
          </a:p>
          <a:p>
            <a:pPr marL="0" indent="0">
              <a:buNone/>
            </a:pPr>
            <a:r>
              <a:rPr lang="en-GB" dirty="0"/>
              <a:t>]</a:t>
            </a:r>
            <a:endParaRPr lang="en-GB" sz="4400" dirty="0"/>
          </a:p>
          <a:p>
            <a:pPr marL="0" indent="0">
              <a:buNone/>
            </a:pPr>
            <a:r>
              <a:rPr lang="en-GB" sz="11200" b="1" dirty="0"/>
              <a:t>CLINE:</a:t>
            </a:r>
          </a:p>
          <a:p>
            <a:pPr marL="0" indent="0">
              <a:buNone/>
            </a:pPr>
            <a:r>
              <a:rPr lang="en-GB" sz="8000" dirty="0"/>
              <a:t>“I have a CSV for some sales data. Make a simple ETL and data analysis programme for it to show plots and graphs.”</a:t>
            </a:r>
          </a:p>
          <a:p>
            <a:pPr marL="0" indent="0">
              <a:buNone/>
            </a:pPr>
            <a:r>
              <a:rPr lang="en-GB" sz="11200" b="1" dirty="0"/>
              <a:t>IN DEMO:  </a:t>
            </a:r>
            <a:r>
              <a:rPr lang="en-GB" sz="8000" dirty="0"/>
              <a:t>I will add…</a:t>
            </a:r>
          </a:p>
          <a:p>
            <a:pPr marL="0" indent="0">
              <a:buNone/>
            </a:pPr>
            <a:r>
              <a:rPr lang="en-GB" sz="8000" dirty="0"/>
              <a:t>[“There is already a folder called `</a:t>
            </a:r>
            <a:r>
              <a:rPr lang="en-GB" sz="8000" dirty="0" err="1"/>
              <a:t>sales_etl_analysis</a:t>
            </a:r>
            <a:r>
              <a:rPr lang="en-GB" sz="8000" dirty="0"/>
              <a:t>` - please ignore and start afresh”]</a:t>
            </a:r>
          </a:p>
        </p:txBody>
      </p:sp>
    </p:spTree>
    <p:extLst>
      <p:ext uri="{BB962C8B-B14F-4D97-AF65-F5344CB8AC3E}">
        <p14:creationId xmlns:p14="http://schemas.microsoft.com/office/powerpoint/2010/main" val="32823898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doing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17193" y="3215147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1338</Words>
  <Application>Microsoft Office PowerPoint</Application>
  <PresentationFormat>Widescreen</PresentationFormat>
  <Paragraphs>148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Consolas</vt:lpstr>
      <vt:lpstr>Office Theme</vt:lpstr>
      <vt:lpstr>AI Agents in the Data Pipeline</vt:lpstr>
      <vt:lpstr>Desired Outcomes</vt:lpstr>
      <vt:lpstr>Raw code implementation of an Agent</vt:lpstr>
      <vt:lpstr>Model costs</vt:lpstr>
      <vt:lpstr>Agenda (1)</vt:lpstr>
      <vt:lpstr>Agenda (2)</vt:lpstr>
      <vt:lpstr>About me</vt:lpstr>
      <vt:lpstr>What is an AI Agent?</vt:lpstr>
      <vt:lpstr>Using email as an aid</vt:lpstr>
      <vt:lpstr>Raw code implementation of an Agent</vt:lpstr>
      <vt:lpstr>Prompt Engineering</vt:lpstr>
      <vt:lpstr>Context Engineering</vt:lpstr>
      <vt:lpstr>Supplying more Context (info)</vt:lpstr>
      <vt:lpstr>What is Tool/Function calling? </vt:lpstr>
      <vt:lpstr>What is Tool/Function calling?</vt:lpstr>
      <vt:lpstr>Reflection Pattern - looping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A complete demo (2)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91</cp:revision>
  <dcterms:created xsi:type="dcterms:W3CDTF">2025-08-05T17:00:53Z</dcterms:created>
  <dcterms:modified xsi:type="dcterms:W3CDTF">2025-09-30T07:01:43Z</dcterms:modified>
</cp:coreProperties>
</file>